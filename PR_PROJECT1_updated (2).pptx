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3"/>
    <p:sldId id="257" r:id="rId4"/>
    <p:sldId id="258" r:id="rId5"/>
    <p:sldId id="259" r:id="rId6"/>
    <p:sldId id="261" r:id="rId8"/>
    <p:sldId id="262" r:id="rId9"/>
    <p:sldId id="281" r:id="rId10"/>
    <p:sldId id="283" r:id="rId11"/>
    <p:sldId id="265" r:id="rId12"/>
    <p:sldId id="282" r:id="rId13"/>
    <p:sldId id="264" r:id="rId14"/>
    <p:sldId id="266" r:id="rId15"/>
    <p:sldId id="274" r:id="rId16"/>
    <p:sldId id="284" r:id="rId17"/>
    <p:sldId id="273" r:id="rId18"/>
    <p:sldId id="285" r:id="rId19"/>
    <p:sldId id="286" r:id="rId20"/>
    <p:sldId id="287" r:id="rId21"/>
    <p:sldId id="288" r:id="rId22"/>
    <p:sldId id="289" r:id="rId23"/>
    <p:sldId id="292" r:id="rId24"/>
    <p:sldId id="276" r:id="rId25"/>
    <p:sldId id="290" r:id="rId26"/>
    <p:sldId id="277" r:id="rId27"/>
    <p:sldId id="291" r:id="rId28"/>
    <p:sldId id="28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7BD3DE-189F-46CD-83E1-521F3FE17063}"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C92515-8B20-4C03-BA2F-5E19ECE5C16C}"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9C92515-8B20-4C03-BA2F-5E19ECE5C16C}"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9C92515-8B20-4C03-BA2F-5E19ECE5C16C}"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87DE6118-2437-4B30-8E3C-4D2BE6020583}" type="datetimeFigureOut">
              <a:rPr lang="en-US" dirty="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87DE6118-2437-4B30-8E3C-4D2BE6020583}" type="datetimeFigureOut">
              <a:rPr lang="en-US" dirty="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7DE6118-2437-4B30-8E3C-4D2BE6020583}" type="datetimeFigureOut">
              <a:rPr lang="en-US" dirty="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7DE6118-2437-4B30-8E3C-4D2BE6020583}" type="datetimeFigureOut">
              <a:rPr lang="en-US" dirty="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7DE6118-2437-4B30-8E3C-4D2BE6020583}" type="datetimeFigureOut">
              <a:rPr lang="en-US" dirty="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8F4F8"/>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87DE6118-2437-4B30-8E3C-4D2BE6020583}" type="datetimeFigureOut">
              <a:rPr lang="en-US" dirty="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69E57DC2-970A-4B3E-BB1C-7A09969E49DF}" type="slidenum">
              <a:rPr lang="en-US" dirty="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5384" y="1485274"/>
            <a:ext cx="8361229" cy="2628924"/>
          </a:xfrm>
        </p:spPr>
        <p:txBody>
          <a:bodyPr/>
          <a:lstStyle/>
          <a:p>
            <a:br>
              <a:rPr lang="en-US" sz="4000">
                <a:latin typeface="Times New Roman" panose="02020603050405020304"/>
                <a:ea typeface="Times New Roman" panose="02020603050405020304"/>
                <a:cs typeface="Times New Roman" panose="02020603050405020304"/>
                <a:sym typeface="Times New Roman" panose="02020603050405020304"/>
              </a:rPr>
            </a:br>
            <a:r>
              <a:rPr lang="en-US" sz="4000">
                <a:latin typeface="Times New Roman" panose="02020603050405020304"/>
                <a:ea typeface="Times New Roman" panose="02020603050405020304"/>
                <a:cs typeface="Times New Roman" panose="02020603050405020304"/>
                <a:sym typeface="Times New Roman" panose="02020603050405020304"/>
              </a:rPr>
              <a:t>University of agricultural sciences,banglore-560065</a:t>
            </a:r>
            <a:br>
              <a:rPr lang="en-US" sz="4000">
                <a:latin typeface="Times New Roman" panose="02020603050405020304"/>
                <a:ea typeface="Times New Roman" panose="02020603050405020304"/>
                <a:cs typeface="Times New Roman" panose="02020603050405020304"/>
                <a:sym typeface="Times New Roman" panose="02020603050405020304"/>
              </a:rPr>
            </a:br>
            <a:r>
              <a:rPr lang="en-US" sz="2800">
                <a:latin typeface="Times New Roman" panose="02020603050405020304"/>
                <a:ea typeface="Times New Roman" panose="02020603050405020304"/>
                <a:cs typeface="Times New Roman" panose="02020603050405020304"/>
                <a:sym typeface="Times New Roman" panose="02020603050405020304"/>
              </a:rPr>
              <a:t>College of Agriculture, GKVK </a:t>
            </a:r>
            <a:br>
              <a:rPr lang="en-US" sz="2800">
                <a:latin typeface="Times New Roman" panose="02020603050405020304"/>
                <a:ea typeface="Times New Roman" panose="02020603050405020304"/>
                <a:cs typeface="Times New Roman" panose="02020603050405020304"/>
                <a:sym typeface="Times New Roman" panose="02020603050405020304"/>
              </a:rPr>
            </a:br>
            <a:br>
              <a:rPr lang="en-US" sz="2800">
                <a:solidFill>
                  <a:srgbClr val="FFFFFF"/>
                </a:solidFill>
                <a:latin typeface="Times New Roman" panose="02020603050405020304"/>
                <a:ea typeface="Times New Roman" panose="02020603050405020304"/>
                <a:cs typeface="Times New Roman" panose="02020603050405020304"/>
                <a:sym typeface="Times New Roman" panose="02020603050405020304"/>
              </a:rPr>
            </a:br>
            <a:r>
              <a:rPr lang="en-US" sz="2400">
                <a:latin typeface="Times New Roman" panose="02020603050405020304"/>
                <a:ea typeface="Times New Roman" panose="02020603050405020304"/>
                <a:cs typeface="Times New Roman" panose="02020603050405020304"/>
                <a:sym typeface="Times New Roman" panose="02020603050405020304"/>
              </a:rPr>
              <a:t> EAI-421: AI &amp; ML in Agriculture (0+10)</a:t>
            </a:r>
            <a:endParaRPr lang="en-IN" sz="2400"/>
          </a:p>
        </p:txBody>
      </p:sp>
      <p:sp>
        <p:nvSpPr>
          <p:cNvPr id="3" name="Subtitle 2"/>
          <p:cNvSpPr>
            <a:spLocks noGrp="1"/>
          </p:cNvSpPr>
          <p:nvPr>
            <p:ph type="subTitle" idx="1"/>
          </p:nvPr>
        </p:nvSpPr>
        <p:spPr>
          <a:xfrm>
            <a:off x="2680161" y="4114198"/>
            <a:ext cx="6831673" cy="1086237"/>
          </a:xfrm>
        </p:spPr>
        <p:txBody>
          <a:bodyPr/>
          <a:lstStyle/>
          <a:p>
            <a:r>
              <a:rPr lang="en-IN"/>
              <a:t>PROJECT TITLE –</a:t>
            </a:r>
            <a:r>
              <a:rPr lang="en-US" altLang="en-IN"/>
              <a:t>WEATHER BASED PRICE PREDICTION MODEL</a:t>
            </a:r>
            <a:r>
              <a:rPr lang="en-IN"/>
              <a:t> </a:t>
            </a:r>
            <a:endParaRPr lang="en-IN"/>
          </a:p>
          <a:p>
            <a:endParaRPr lang="en-IN"/>
          </a:p>
          <a:p>
            <a:endParaRPr lang="en-IN"/>
          </a:p>
        </p:txBody>
      </p:sp>
      <p:sp>
        <p:nvSpPr>
          <p:cNvPr id="6" name="TextBox 5"/>
          <p:cNvSpPr txBox="1"/>
          <p:nvPr/>
        </p:nvSpPr>
        <p:spPr>
          <a:xfrm>
            <a:off x="8991738" y="4738770"/>
            <a:ext cx="1826470" cy="1753235"/>
          </a:xfrm>
          <a:prstGeom prst="rect">
            <a:avLst/>
          </a:prstGeom>
          <a:noFill/>
        </p:spPr>
        <p:txBody>
          <a:bodyPr wrap="square" rtlCol="0">
            <a:spAutoFit/>
          </a:bodyPr>
          <a:lstStyle/>
          <a:p>
            <a:r>
              <a:rPr lang="en-IN"/>
              <a:t>ID NO-</a:t>
            </a:r>
            <a:endParaRPr lang="en-IN"/>
          </a:p>
          <a:p>
            <a:r>
              <a:rPr lang="en-US" altLang="en-IN"/>
              <a:t>AMB2207</a:t>
            </a:r>
            <a:endParaRPr lang="en-US" altLang="en-IN"/>
          </a:p>
          <a:p>
            <a:endParaRPr lang="en-US" altLang="en-IN"/>
          </a:p>
          <a:p>
            <a:r>
              <a:rPr lang="en-US" altLang="en-IN"/>
              <a:t>AMB2173</a:t>
            </a:r>
            <a:endParaRPr lang="en-IN"/>
          </a:p>
          <a:p>
            <a:r>
              <a:rPr lang="en-IN"/>
              <a:t>           </a:t>
            </a:r>
            <a:endParaRPr lang="en-IN"/>
          </a:p>
          <a:p>
            <a:r>
              <a:rPr lang="en-IN"/>
              <a:t>           </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4705" y="368935"/>
            <a:ext cx="3532505" cy="829945"/>
          </a:xfrm>
          <a:prstGeom prst="rect">
            <a:avLst/>
          </a:prstGeom>
          <a:noFill/>
        </p:spPr>
        <p:txBody>
          <a:bodyPr wrap="square" rtlCol="0">
            <a:spAutoFit/>
          </a:bodyPr>
          <a:lstStyle/>
          <a:p>
            <a:r>
              <a:rPr lang="en-GB" sz="4800" b="1" i="1" u="sng">
                <a:solidFill>
                  <a:srgbClr val="FF0000"/>
                </a:solidFill>
              </a:rPr>
              <a:t>Content</a:t>
            </a:r>
            <a:endParaRPr lang="en-GB" sz="4800" b="1" i="1" u="sng">
              <a:solidFill>
                <a:srgbClr val="FF0000"/>
              </a:solidFill>
            </a:endParaRPr>
          </a:p>
        </p:txBody>
      </p:sp>
      <p:sp>
        <p:nvSpPr>
          <p:cNvPr id="3" name="TextBox 2"/>
          <p:cNvSpPr txBox="1"/>
          <p:nvPr/>
        </p:nvSpPr>
        <p:spPr>
          <a:xfrm>
            <a:off x="765810" y="1130935"/>
            <a:ext cx="7773035" cy="4749800"/>
          </a:xfrm>
          <a:prstGeom prst="rect">
            <a:avLst/>
          </a:prstGeom>
          <a:noFill/>
        </p:spPr>
        <p:txBody>
          <a:bodyPr wrap="square" rtlCol="0">
            <a:noAutofit/>
          </a:bodyPr>
          <a:lstStyle/>
          <a:p>
            <a:pPr lvl="0">
              <a:lnSpc>
                <a:spcPct val="70000"/>
              </a:lnSpc>
              <a:spcBef>
                <a:spcPts val="1000"/>
              </a:spcBef>
              <a:buClr>
                <a:schemeClr val="dk1"/>
              </a:buClr>
              <a:buSzPts val="523"/>
            </a:pPr>
            <a:endParaRPr lang="en-US" sz="2400">
              <a:solidFill>
                <a:schemeClr val="dk1"/>
              </a:solidFill>
              <a:latin typeface="Bodoni MT" panose="02070603080606020203" charset="0"/>
              <a:cs typeface="Bodoni MT" panose="02070603080606020203" charset="0"/>
            </a:endParaRPr>
          </a:p>
          <a:p>
            <a:pPr lvl="0" indent="0">
              <a:lnSpc>
                <a:spcPct val="70000"/>
              </a:lnSpc>
              <a:spcBef>
                <a:spcPts val="1000"/>
              </a:spcBef>
              <a:buClr>
                <a:schemeClr val="dk1"/>
              </a:buClr>
              <a:buSzPts val="523"/>
              <a:buFont typeface="Arial" panose="020B0604020202020204" pitchFamily="34" charset="0"/>
              <a:buNone/>
            </a:pPr>
            <a:r>
              <a:rPr lang="en-US" sz="2400">
                <a:solidFill>
                  <a:schemeClr val="dk1"/>
                </a:solidFill>
                <a:latin typeface="Bodoni MT" panose="02070603080606020203" charset="0"/>
                <a:cs typeface="Bodoni MT" panose="02070603080606020203" charset="0"/>
              </a:rPr>
              <a:t>Introduction</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•Problem Statement</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•Objectives of the project</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•Dataset Overview</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•Methodology/approach</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•Tools and Technologies Used</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•Results</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•Discussion / Analysis</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Clr>
                <a:schemeClr val="dk1"/>
              </a:buClr>
              <a:buSzPts val="523"/>
            </a:pPr>
            <a:r>
              <a:rPr lang="en-US" sz="2400">
                <a:solidFill>
                  <a:schemeClr val="dk1"/>
                </a:solidFill>
                <a:latin typeface="Bodoni MT" panose="02070603080606020203" charset="0"/>
                <a:cs typeface="Bodoni MT" panose="02070603080606020203" charset="0"/>
              </a:rPr>
              <a:t>•Conclusion and Future Work</a:t>
            </a:r>
            <a:endParaRPr lang="en-US" sz="2400">
              <a:solidFill>
                <a:schemeClr val="dk1"/>
              </a:solidFill>
              <a:latin typeface="Bodoni MT" panose="02070603080606020203" charset="0"/>
              <a:cs typeface="Bodoni MT" panose="02070603080606020203" charset="0"/>
            </a:endParaRPr>
          </a:p>
          <a:p>
            <a:pPr lvl="0">
              <a:lnSpc>
                <a:spcPct val="70000"/>
              </a:lnSpc>
              <a:spcBef>
                <a:spcPts val="1000"/>
              </a:spcBef>
              <a:buSzPts val="523"/>
            </a:pPr>
            <a:r>
              <a:rPr lang="en-US" sz="2400">
                <a:solidFill>
                  <a:schemeClr val="dk1"/>
                </a:solidFill>
                <a:latin typeface="Bodoni MT" panose="02070603080606020203" charset="0"/>
                <a:cs typeface="Bodoni MT" panose="02070603080606020203" charset="0"/>
              </a:rPr>
              <a:t>•References/Acknowledgements</a:t>
            </a:r>
            <a:endParaRPr lang="en-US" sz="2400">
              <a:latin typeface="Bodoni MT" panose="02070603080606020203" charset="0"/>
              <a:cs typeface="Bodoni MT" panose="02070603080606020203" charset="0"/>
            </a:endParaRPr>
          </a:p>
          <a:p>
            <a:endParaRPr lang="en-IN" sz="2400">
              <a:latin typeface="Bodoni MT" panose="02070603080606020203" charset="0"/>
              <a:cs typeface="Bodoni MT" panose="020706030806060202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7019" y="530942"/>
            <a:ext cx="3177793" cy="646331"/>
          </a:xfrm>
          <a:prstGeom prst="rect">
            <a:avLst/>
          </a:prstGeom>
          <a:noFill/>
        </p:spPr>
        <p:txBody>
          <a:bodyPr wrap="none" rtlCol="0">
            <a:spAutoFit/>
          </a:bodyPr>
          <a:lstStyle/>
          <a:p>
            <a:r>
              <a:rPr lang="en-GB" sz="3600" b="1"/>
              <a:t>INTRODUCTION</a:t>
            </a:r>
            <a:endParaRPr lang="en-IN" sz="3600" b="1"/>
          </a:p>
        </p:txBody>
      </p:sp>
      <p:sp>
        <p:nvSpPr>
          <p:cNvPr id="4" name="Text Box 3"/>
          <p:cNvSpPr txBox="1"/>
          <p:nvPr/>
        </p:nvSpPr>
        <p:spPr>
          <a:xfrm>
            <a:off x="1371600" y="1429385"/>
            <a:ext cx="9806940" cy="3663315"/>
          </a:xfrm>
          <a:prstGeom prst="rect">
            <a:avLst/>
          </a:prstGeom>
          <a:noFill/>
        </p:spPr>
        <p:txBody>
          <a:bodyPr wrap="square" rtlCol="0">
            <a:noAutofit/>
          </a:bodyPr>
          <a:p>
            <a:r>
              <a:rPr lang="en-US" sz="2400">
                <a:latin typeface="Bahnschrift Light" panose="020B0502040204020203" charset="0"/>
                <a:cs typeface="Bahnschrift Light" panose="020B0502040204020203" charset="0"/>
              </a:rPr>
              <a:t>The major problem for a farmer is the </a:t>
            </a:r>
            <a:r>
              <a:rPr lang="en-US" sz="2400" b="1">
                <a:latin typeface="Bahnschrift Light" panose="020B0502040204020203" charset="0"/>
                <a:cs typeface="Bahnschrift Light" panose="020B0502040204020203" charset="0"/>
              </a:rPr>
              <a:t>price that he gets for is produce.</a:t>
            </a:r>
            <a:endParaRPr lang="en-US" sz="2400" b="1">
              <a:latin typeface="Bahnschrift Light" panose="020B0502040204020203" charset="0"/>
              <a:cs typeface="Bahnschrift Light" panose="020B0502040204020203" charset="0"/>
            </a:endParaRPr>
          </a:p>
          <a:p>
            <a:r>
              <a:rPr lang="en-US" sz="2400">
                <a:latin typeface="Bahnschrift Light" panose="020B0502040204020203" charset="0"/>
                <a:cs typeface="Bahnschrift Light" panose="020B0502040204020203" charset="0"/>
              </a:rPr>
              <a:t>Agriculture commodity price is being one of the most variable thing in present modern world.if its go too low farming community gets affected if it goes to high the consumer market gets disrupted so the price should convince both farming community and consumer community.A price of a commodity is variable factor depending on </a:t>
            </a:r>
            <a:r>
              <a:rPr lang="en-US" sz="2400" b="1">
                <a:latin typeface="Bahnschrift Light" panose="020B0502040204020203" charset="0"/>
                <a:cs typeface="Bahnschrift Light" panose="020B0502040204020203" charset="0"/>
              </a:rPr>
              <a:t>Demand,Supply,Weather,Policies,Crisis,Season,War</a:t>
            </a:r>
            <a:r>
              <a:rPr lang="en-US" sz="2400">
                <a:latin typeface="Bahnschrift Light" panose="020B0502040204020203" charset="0"/>
                <a:cs typeface="Bahnschrift Light" panose="020B0502040204020203" charset="0"/>
              </a:rPr>
              <a:t>,and others.so we are creating a simulated price prediction  mode; for Onion,Tomato,Chilli by correlating with weather.This is just  an example of how we can creat global agriculture commodity price prediction. </a:t>
            </a:r>
            <a:endParaRPr lang="en-US" sz="2400">
              <a:latin typeface="Bahnschrift Light" panose="020B0502040204020203" charset="0"/>
              <a:cs typeface="Bahnschrift Light"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8865" y="373626"/>
            <a:ext cx="4557017" cy="646331"/>
          </a:xfrm>
          <a:prstGeom prst="rect">
            <a:avLst/>
          </a:prstGeom>
          <a:noFill/>
        </p:spPr>
        <p:txBody>
          <a:bodyPr wrap="none" rtlCol="0">
            <a:spAutoFit/>
          </a:bodyPr>
          <a:lstStyle/>
          <a:p>
            <a:r>
              <a:rPr lang="en-GB" sz="3600" b="1"/>
              <a:t>PROBLEM STATEMENT</a:t>
            </a:r>
            <a:endParaRPr lang="en-IN" sz="3600"/>
          </a:p>
        </p:txBody>
      </p:sp>
      <p:sp>
        <p:nvSpPr>
          <p:cNvPr id="3" name="TextBox 2"/>
          <p:cNvSpPr txBox="1"/>
          <p:nvPr/>
        </p:nvSpPr>
        <p:spPr>
          <a:xfrm>
            <a:off x="1238864" y="1142795"/>
            <a:ext cx="8681883" cy="3661410"/>
          </a:xfrm>
          <a:prstGeom prst="rect">
            <a:avLst/>
          </a:prstGeom>
          <a:noFill/>
        </p:spPr>
        <p:txBody>
          <a:bodyPr wrap="square" rtlCol="0">
            <a:spAutoFit/>
          </a:bodyPr>
          <a:lstStyle/>
          <a:p>
            <a:pPr marL="342900" indent="-342900">
              <a:buFont typeface="Arial" panose="020B0604020202020204" pitchFamily="34" charset="0"/>
              <a:buChar char="•"/>
            </a:pPr>
            <a:r>
              <a:rPr lang="en-US" sz="2400">
                <a:latin typeface="Bahnschrift Light" panose="020B0502040204020203" charset="0"/>
                <a:cs typeface="Bahnschrift Light" panose="020B0502040204020203" charset="0"/>
              </a:rPr>
              <a:t>Unstability of price of agriculture produce</a:t>
            </a:r>
            <a:endParaRPr lang="en-US" sz="24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400">
                <a:latin typeface="Bahnschrift Light" panose="020B0502040204020203" charset="0"/>
                <a:cs typeface="Bahnschrift Light" panose="020B0502040204020203" charset="0"/>
              </a:rPr>
              <a:t>Seasonality of production</a:t>
            </a:r>
            <a:endParaRPr lang="en-US" sz="24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400">
                <a:latin typeface="Bahnschrift Light" panose="020B0502040204020203" charset="0"/>
                <a:cs typeface="Bahnschrift Light" panose="020B0502040204020203" charset="0"/>
              </a:rPr>
              <a:t>Unpredictable weather</a:t>
            </a:r>
            <a:endParaRPr lang="en-US" sz="24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400">
                <a:latin typeface="Bahnschrift Light" panose="020B0502040204020203" charset="0"/>
                <a:cs typeface="Bahnschrift Light" panose="020B0502040204020203" charset="0"/>
              </a:rPr>
              <a:t>Lack of farmer integration with Trends of supply</a:t>
            </a:r>
            <a:endParaRPr lang="en-US" sz="2400">
              <a:latin typeface="Bahnschrift Light" panose="020B0502040204020203" charset="0"/>
              <a:cs typeface="Bahnschrift Light" panose="020B0502040204020203" charset="0"/>
            </a:endParaRPr>
          </a:p>
          <a:p>
            <a:pPr marL="342900" indent="-342900">
              <a:buFont typeface="Arial" panose="020B0604020202020204" pitchFamily="34" charset="0"/>
              <a:buChar char="•"/>
            </a:pPr>
            <a:endParaRPr lang="en-US" sz="2400">
              <a:latin typeface="Bahnschrift Light" panose="020B0502040204020203" charset="0"/>
              <a:cs typeface="Bahnschrift Light" panose="020B0502040204020203" charset="0"/>
            </a:endParaRPr>
          </a:p>
          <a:p>
            <a:pPr marL="342900" indent="-342900">
              <a:buFont typeface="Arial" panose="020B0604020202020204" pitchFamily="34" charset="0"/>
              <a:buChar char="•"/>
            </a:pPr>
            <a:endParaRPr lang="en-US" sz="2400">
              <a:latin typeface="Bahnschrift Light" panose="020B0502040204020203" charset="0"/>
              <a:cs typeface="Bahnschrift Light" panose="020B0502040204020203" charset="0"/>
            </a:endParaRPr>
          </a:p>
          <a:p>
            <a:r>
              <a:rPr lang="en-US" sz="4000" b="1"/>
              <a:t>Project Goal</a:t>
            </a:r>
            <a:endParaRPr lang="en-US" sz="4000" b="1"/>
          </a:p>
          <a:p>
            <a:r>
              <a:rPr lang="en-US" sz="2400">
                <a:latin typeface="Bahnschrift Light" panose="020B0502040204020203" charset="0"/>
                <a:cs typeface="Bahnschrift Light" panose="020B0502040204020203" charset="0"/>
              </a:rPr>
              <a:t>Develop machine learning model to predict agriculture commodity prices and trends based on weather and season</a:t>
            </a:r>
            <a:endParaRPr lang="en-US" sz="2400">
              <a:latin typeface="Bahnschrift Light" panose="020B0502040204020203" charset="0"/>
              <a:cs typeface="Bahnschrift Light" panose="020B05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2940" y="972185"/>
            <a:ext cx="10634345" cy="5448300"/>
          </a:xfrm>
          <a:prstGeom prst="rect">
            <a:avLst/>
          </a:prstGeom>
          <a:noFill/>
        </p:spPr>
        <p:txBody>
          <a:bodyPr wrap="square" rtlCol="0">
            <a:noAutofit/>
          </a:bodyPr>
          <a:lstStyle/>
          <a:p>
            <a:r>
              <a:rPr lang="en-US" sz="4400" b="1"/>
              <a:t>OBJECTIVES</a:t>
            </a:r>
            <a:endParaRPr lang="en-US" sz="4400" b="1"/>
          </a:p>
          <a:p>
            <a:endParaRPr lang="en-US" sz="4400" b="1"/>
          </a:p>
          <a:p>
            <a:pPr marL="742950" indent="-742950">
              <a:buFont typeface="+mj-lt"/>
              <a:buAutoNum type="arabicPeriod"/>
            </a:pPr>
            <a:r>
              <a:rPr lang="en-US" sz="2800"/>
              <a:t>To create a ML model </a:t>
            </a:r>
            <a:r>
              <a:rPr lang="en-US" sz="2800" b="1"/>
              <a:t>to predict future prices of agriculture produce</a:t>
            </a:r>
            <a:endParaRPr lang="en-US" sz="2800" b="1"/>
          </a:p>
          <a:p>
            <a:pPr marL="742950" indent="-742950">
              <a:buFont typeface="+mj-lt"/>
              <a:buAutoNum type="arabicPeriod"/>
            </a:pPr>
            <a:r>
              <a:rPr lang="en-US" sz="2800"/>
              <a:t>creating </a:t>
            </a:r>
            <a:r>
              <a:rPr lang="en-US" sz="2800" b="1"/>
              <a:t>awareness about future prices</a:t>
            </a:r>
            <a:r>
              <a:rPr lang="en-US" sz="2800"/>
              <a:t> of farmer produce</a:t>
            </a:r>
            <a:r>
              <a:rPr lang="en-US" sz="2800" b="1"/>
              <a:t> </a:t>
            </a:r>
            <a:endParaRPr lang="en-US" sz="2800" b="1"/>
          </a:p>
          <a:p>
            <a:pPr marL="742950" indent="-742950">
              <a:buFont typeface="+mj-lt"/>
              <a:buAutoNum type="arabicPeriod"/>
            </a:pPr>
            <a:r>
              <a:rPr lang="en-US" sz="2800"/>
              <a:t>creating </a:t>
            </a:r>
            <a:r>
              <a:rPr lang="en-US" sz="2800" b="1"/>
              <a:t>sesonal trends </a:t>
            </a:r>
            <a:r>
              <a:rPr lang="en-US" sz="2800"/>
              <a:t>of specific produce that helps farmers </a:t>
            </a:r>
            <a:r>
              <a:rPr lang="en-US" sz="2800" b="1"/>
              <a:t>what to grow in what season</a:t>
            </a:r>
            <a:endParaRPr lang="en-US" sz="2800" b="1"/>
          </a:p>
          <a:p>
            <a:pPr marL="742950" indent="-742950">
              <a:buFont typeface="+mj-lt"/>
              <a:buAutoNum type="arabicPeriod"/>
            </a:pPr>
            <a:r>
              <a:rPr lang="en-US" sz="2800" b="1"/>
              <a:t>Assured price prediction</a:t>
            </a:r>
            <a:r>
              <a:rPr lang="en-US" sz="2800"/>
              <a:t> helps in storaging of produce in warehose</a:t>
            </a:r>
            <a:endParaRPr lang="en-US" sz="2800"/>
          </a:p>
          <a:p>
            <a:pPr marL="742950" indent="-742950">
              <a:buFont typeface="+mj-lt"/>
              <a:buAutoNum type="arabicPeriod"/>
            </a:pPr>
            <a:r>
              <a:rPr lang="en-US" sz="2800"/>
              <a:t>In country </a:t>
            </a:r>
            <a:r>
              <a:rPr lang="en-US" sz="2800" b="1"/>
              <a:t>price stabilization </a:t>
            </a:r>
            <a:r>
              <a:rPr lang="en-US" sz="2800"/>
              <a:t>by grid prediction system</a:t>
            </a:r>
            <a:endParaRPr lang="en-US" sz="2800"/>
          </a:p>
          <a:p>
            <a:pPr indent="0">
              <a:buFont typeface="+mj-lt"/>
              <a:buNone/>
            </a:pPr>
            <a:endParaRPr lang="en-US" sz="2800"/>
          </a:p>
          <a:p>
            <a:endParaRPr lang="en-IN"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6895" y="255905"/>
            <a:ext cx="6567805" cy="768350"/>
          </a:xfrm>
          <a:prstGeom prst="rect">
            <a:avLst/>
          </a:prstGeom>
          <a:noFill/>
        </p:spPr>
        <p:txBody>
          <a:bodyPr wrap="square" rtlCol="0">
            <a:spAutoFit/>
          </a:bodyPr>
          <a:lstStyle/>
          <a:p>
            <a:r>
              <a:rPr lang="en-GB" sz="4400" b="1"/>
              <a:t>DATASET OVERVIEW</a:t>
            </a:r>
            <a:endParaRPr lang="en-IN" sz="4400"/>
          </a:p>
        </p:txBody>
      </p:sp>
      <p:sp>
        <p:nvSpPr>
          <p:cNvPr id="4" name="Text Box 3"/>
          <p:cNvSpPr txBox="1"/>
          <p:nvPr/>
        </p:nvSpPr>
        <p:spPr>
          <a:xfrm>
            <a:off x="609600" y="1295400"/>
            <a:ext cx="11083925" cy="5038090"/>
          </a:xfrm>
          <a:prstGeom prst="rect">
            <a:avLst/>
          </a:prstGeom>
          <a:noFill/>
        </p:spPr>
        <p:txBody>
          <a:bodyPr wrap="square" rtlCol="0">
            <a:noAutofit/>
          </a:bodyPr>
          <a:p>
            <a:r>
              <a:rPr lang="en-US" sz="2000">
                <a:latin typeface="Bahnschrift Light" panose="020B0502040204020203" charset="0"/>
                <a:cs typeface="Bahnschrift Light" panose="020B0502040204020203" charset="0"/>
              </a:rPr>
              <a:t>Averagw indian weather data of past 10 years was collected on daily basis(Rainfall,Humidity,Temperature)</a:t>
            </a:r>
            <a:endParaRPr lang="en-US" sz="2000">
              <a:latin typeface="Bahnschrift Light" panose="020B0502040204020203" charset="0"/>
              <a:cs typeface="Bahnschrift Light" panose="020B0502040204020203" charset="0"/>
            </a:endParaRPr>
          </a:p>
          <a:p>
            <a:endParaRPr lang="en-US" sz="2000">
              <a:latin typeface="Bahnschrift Light" panose="020B0502040204020203" charset="0"/>
              <a:cs typeface="Bahnschrift Light" panose="020B0502040204020203" charset="0"/>
            </a:endParaRPr>
          </a:p>
          <a:p>
            <a:r>
              <a:rPr lang="en-US" sz="2000">
                <a:latin typeface="Bahnschrift Light" panose="020B0502040204020203" charset="0"/>
                <a:cs typeface="Bahnschrift Light" panose="020B0502040204020203" charset="0"/>
              </a:rPr>
              <a:t>average indian prices of commodity (Onion,Tomato,Chilli)of past 10 years on daily basis.</a:t>
            </a:r>
            <a:endParaRPr lang="en-US" sz="2000">
              <a:latin typeface="Bahnschrift Light" panose="020B0502040204020203" charset="0"/>
              <a:cs typeface="Bahnschrift Light" panose="020B0502040204020203" charset="0"/>
            </a:endParaRPr>
          </a:p>
          <a:p>
            <a:endParaRPr lang="en-US" sz="2000">
              <a:latin typeface="Bahnschrift Light" panose="020B0502040204020203" charset="0"/>
              <a:cs typeface="Bahnschrift Light" panose="020B0502040204020203" charset="0"/>
            </a:endParaRPr>
          </a:p>
          <a:p>
            <a:r>
              <a:rPr lang="en-US" sz="2000" b="1">
                <a:latin typeface="Bahnschrift Light" panose="020B0502040204020203" charset="0"/>
                <a:cs typeface="Bahnschrift Light" panose="020B0502040204020203" charset="0"/>
              </a:rPr>
              <a:t>Data source(for weather)</a:t>
            </a:r>
            <a:endParaRPr lang="en-US" sz="2000" b="1">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NOAA</a:t>
            </a:r>
            <a:endParaRPr lang="en-US" sz="2000">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NASA POWER</a:t>
            </a:r>
            <a:endParaRPr lang="en-US" sz="2000">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OPEN WEATHER</a:t>
            </a:r>
            <a:endParaRPr lang="en-US" sz="2000">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METEOSTAT</a:t>
            </a:r>
            <a:endParaRPr lang="en-US" sz="2000">
              <a:latin typeface="Bahnschrift Light" panose="020B0502040204020203" charset="0"/>
              <a:cs typeface="Bahnschrift Light" panose="020B0502040204020203" charset="0"/>
            </a:endParaRPr>
          </a:p>
          <a:p>
            <a:pPr indent="0">
              <a:buFont typeface="Arial" panose="020B0604020202020204" pitchFamily="34" charset="0"/>
              <a:buNone/>
            </a:pPr>
            <a:endParaRPr lang="en-US" sz="2000">
              <a:latin typeface="Bahnschrift Light" panose="020B0502040204020203" charset="0"/>
              <a:cs typeface="Bahnschrift Light" panose="020B0502040204020203" charset="0"/>
            </a:endParaRPr>
          </a:p>
          <a:p>
            <a:pPr indent="0">
              <a:buFont typeface="Arial" panose="020B0604020202020204" pitchFamily="34" charset="0"/>
              <a:buNone/>
            </a:pPr>
            <a:r>
              <a:rPr lang="en-US" sz="2000" b="1">
                <a:latin typeface="Bahnschrift Light" panose="020B0502040204020203" charset="0"/>
                <a:cs typeface="Bahnschrift Light" panose="020B0502040204020203" charset="0"/>
              </a:rPr>
              <a:t>Data source( for commodity price)</a:t>
            </a:r>
            <a:endParaRPr lang="en-US" sz="2000" b="1">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AGMARKNET</a:t>
            </a:r>
            <a:endParaRPr lang="en-US" sz="2000">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FAOSTAT DATASET</a:t>
            </a:r>
            <a:endParaRPr lang="en-US" sz="2000">
              <a:latin typeface="Bahnschrift Light" panose="020B0502040204020203" charset="0"/>
              <a:cs typeface="Bahnschrift Light" panose="020B0502040204020203" charset="0"/>
            </a:endParaRPr>
          </a:p>
          <a:p>
            <a:pPr marL="285750" indent="-285750">
              <a:buFont typeface="Arial" panose="020B0604020202020204" pitchFamily="34" charset="0"/>
              <a:buChar char="•"/>
            </a:pPr>
            <a:r>
              <a:rPr lang="en-US" sz="2000">
                <a:latin typeface="Bahnschrift Light" panose="020B0502040204020203" charset="0"/>
                <a:cs typeface="Bahnschrift Light" panose="020B0502040204020203" charset="0"/>
              </a:rPr>
              <a:t>WORLD BANK COMMODITY PRICES</a:t>
            </a:r>
            <a:endParaRPr lang="en-US" sz="2000">
              <a:latin typeface="Bahnschrift Light" panose="020B0502040204020203" charset="0"/>
              <a:cs typeface="Bahnschrift Light" panose="020B0502040204020203" charset="0"/>
            </a:endParaRPr>
          </a:p>
          <a:p>
            <a:pPr indent="0">
              <a:buFont typeface="Arial" panose="020B0604020202020204" pitchFamily="34" charset="0"/>
              <a:buNone/>
            </a:pPr>
            <a:r>
              <a:rPr lang="en-US" sz="2000">
                <a:latin typeface="Bahnschrift Light" panose="020B0502040204020203" charset="0"/>
                <a:cs typeface="Bahnschrift Light" panose="020B0502040204020203" charset="0"/>
              </a:rPr>
              <a:t> </a:t>
            </a:r>
            <a:endParaRPr lang="en-US" sz="2000">
              <a:latin typeface="Bahnschrift Light" panose="020B0502040204020203" charset="0"/>
              <a:cs typeface="Bahnschrift Light" panose="020B0502040204020203" charset="0"/>
            </a:endParaRP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82625" y="200660"/>
            <a:ext cx="10981690" cy="731202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810" y="635"/>
          <a:ext cx="12252960" cy="6858000"/>
        </p:xfrm>
        <a:graphic>
          <a:graphicData uri="http://schemas.openxmlformats.org/drawingml/2006/table">
            <a:tbl>
              <a:tblPr/>
              <a:tblGrid>
                <a:gridCol w="1383665"/>
                <a:gridCol w="1184910"/>
                <a:gridCol w="1087120"/>
                <a:gridCol w="692150"/>
                <a:gridCol w="1186180"/>
                <a:gridCol w="1283970"/>
                <a:gridCol w="1285240"/>
                <a:gridCol w="1382395"/>
                <a:gridCol w="1383665"/>
                <a:gridCol w="1383665"/>
              </a:tblGrid>
              <a:tr h="638175">
                <a:tc gridSpan="10">
                  <a:txBody>
                    <a:bodyPr/>
                    <a:p>
                      <a:pPr algn="ctr" fontAlgn="ctr"/>
                      <a:r>
                        <a:rPr sz="1300" b="1" i="0">
                          <a:solidFill>
                            <a:srgbClr val="FFFFFF"/>
                          </a:solidFill>
                          <a:latin typeface="Arial" panose="020B0604020202020204"/>
                          <a:ea typeface="Arial" panose="020B0604020202020204"/>
                        </a:rPr>
                        <a:t>India - Daily Weather &amp; Vegetable Price Data (Apr 2016 - Apr 2026)</a:t>
                      </a:r>
                      <a:endParaRPr sz="1300" b="1" i="0">
                        <a:solidFill>
                          <a:srgbClr val="FFFFFF"/>
                        </a:solidFill>
                        <a:latin typeface="Arial" panose="020B0604020202020204"/>
                        <a:ea typeface="Arial" panose="020B0604020202020204"/>
                      </a:endParaRPr>
                    </a:p>
                  </a:txBody>
                  <a:tcPr marL="9842" marR="9842" marT="9842" marB="0" anchor="ctr" anchorCtr="0">
                    <a:lnL>
                      <a:noFill/>
                    </a:lnL>
                    <a:lnR>
                      <a:noFill/>
                    </a:lnR>
                    <a:lnT>
                      <a:noFill/>
                    </a:lnT>
                    <a:lnB>
                      <a:noFill/>
                    </a:lnB>
                    <a:solidFill>
                      <a:srgbClr val="1F4E79"/>
                    </a:solidFill>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454660">
                <a:tc gridSpan="4">
                  <a:txBody>
                    <a:bodyPr/>
                    <a:p>
                      <a:pPr algn="ctr" fontAlgn="ctr"/>
                      <a:r>
                        <a:rPr sz="1000" b="1" i="0">
                          <a:solidFill>
                            <a:srgbClr val="FFFFFF"/>
                          </a:solidFill>
                          <a:latin typeface="Arial" panose="020B0604020202020204"/>
                          <a:ea typeface="Arial" panose="020B0604020202020204"/>
                        </a:rPr>
                        <a:t>Date Info</a:t>
                      </a:r>
                      <a:endParaRPr sz="1000" b="1" i="0">
                        <a:solidFill>
                          <a:srgbClr val="FFFFFF"/>
                        </a:solidFill>
                        <a:latin typeface="Arial" panose="020B0604020202020204"/>
                        <a:ea typeface="Arial" panose="020B0604020202020204"/>
                      </a:endParaRPr>
                    </a:p>
                  </a:txBody>
                  <a:tcPr marL="9842" marR="9842" marT="9842" marB="0" anchor="ctr" anchorCtr="0">
                    <a:lnL>
                      <a:noFill/>
                    </a:lnL>
                    <a:lnR>
                      <a:noFill/>
                    </a:lnR>
                    <a:lnT>
                      <a:noFill/>
                    </a:lnT>
                    <a:lnB w="6350" cap="flat" cmpd="sng">
                      <a:solidFill>
                        <a:srgbClr val="B8CCE4"/>
                      </a:solidFill>
                      <a:prstDash val="solid"/>
                      <a:headEnd type="none" w="med" len="med"/>
                      <a:tailEnd type="none" w="med" len="med"/>
                    </a:lnB>
                    <a:solidFill>
                      <a:srgbClr val="3F3F76"/>
                    </a:solidFill>
                  </a:tcPr>
                </a:tc>
                <a:tc hMerge="1">
                  <a:tcPr>
                    <a:lnT>
                      <a:noFill/>
                    </a:lnT>
                    <a:lnB w="6350" cap="flat" cmpd="sng">
                      <a:solidFill>
                        <a:srgbClr val="B8CCE4"/>
                      </a:solidFill>
                      <a:prstDash val="solid"/>
                      <a:headEnd type="none" w="med" len="med"/>
                      <a:tailEnd type="none" w="med" len="med"/>
                    </a:lnB>
                  </a:tcPr>
                </a:tc>
                <a:tc hMerge="1">
                  <a:tcPr>
                    <a:lnT>
                      <a:noFill/>
                    </a:lnT>
                    <a:lnB w="6350" cap="flat" cmpd="sng">
                      <a:solidFill>
                        <a:srgbClr val="B8CCE4"/>
                      </a:solidFill>
                      <a:prstDash val="solid"/>
                      <a:headEnd type="none" w="med" len="med"/>
                      <a:tailEnd type="none" w="med" len="med"/>
                    </a:lnB>
                  </a:tcPr>
                </a:tc>
                <a:tc hMerge="1">
                  <a:tcPr>
                    <a:lnR>
                      <a:noFill/>
                    </a:lnR>
                    <a:lnT>
                      <a:noFill/>
                    </a:lnT>
                    <a:lnB w="6350" cap="flat" cmpd="sng">
                      <a:solidFill>
                        <a:srgbClr val="B8CCE4"/>
                      </a:solidFill>
                      <a:prstDash val="solid"/>
                      <a:headEnd type="none" w="med" len="med"/>
                      <a:tailEnd type="none" w="med" len="med"/>
                    </a:lnB>
                  </a:tcPr>
                </a:tc>
                <a:tc gridSpan="3">
                  <a:txBody>
                    <a:bodyPr/>
                    <a:p>
                      <a:pPr algn="ctr" fontAlgn="ctr"/>
                      <a:r>
                        <a:rPr sz="1000" b="1" i="0">
                          <a:solidFill>
                            <a:srgbClr val="FFFFFF"/>
                          </a:solidFill>
                          <a:latin typeface="Arial" panose="020B0604020202020204"/>
                          <a:ea typeface="Arial" panose="020B0604020202020204"/>
                        </a:rPr>
                        <a:t>Weather Data (India Avg)</a:t>
                      </a:r>
                      <a:endParaRPr sz="1000" b="1" i="0">
                        <a:solidFill>
                          <a:srgbClr val="FFFFFF"/>
                        </a:solidFill>
                        <a:latin typeface="Arial" panose="020B0604020202020204"/>
                        <a:ea typeface="Arial" panose="020B0604020202020204"/>
                      </a:endParaRPr>
                    </a:p>
                  </a:txBody>
                  <a:tcPr marL="9842" marR="9842" marT="9842" marB="0" anchor="ctr" anchorCtr="0">
                    <a:lnL>
                      <a:noFill/>
                    </a:lnL>
                    <a:lnR>
                      <a:noFill/>
                    </a:lnR>
                    <a:lnT>
                      <a:noFill/>
                    </a:lnT>
                    <a:lnB w="6350" cap="flat" cmpd="sng">
                      <a:solidFill>
                        <a:srgbClr val="B8CCE4"/>
                      </a:solidFill>
                      <a:prstDash val="solid"/>
                      <a:headEnd type="none" w="med" len="med"/>
                      <a:tailEnd type="none" w="med" len="med"/>
                    </a:lnB>
                    <a:solidFill>
                      <a:srgbClr val="2E75B6"/>
                    </a:solidFill>
                  </a:tcPr>
                </a:tc>
                <a:tc hMerge="1">
                  <a:tcPr>
                    <a:lnT>
                      <a:noFill/>
                    </a:lnT>
                    <a:lnB w="6350" cap="flat" cmpd="sng">
                      <a:solidFill>
                        <a:srgbClr val="B8CCE4"/>
                      </a:solidFill>
                      <a:prstDash val="solid"/>
                      <a:headEnd type="none" w="med" len="med"/>
                      <a:tailEnd type="none" w="med" len="med"/>
                    </a:lnB>
                  </a:tcPr>
                </a:tc>
                <a:tc hMerge="1">
                  <a:tcPr>
                    <a:lnR>
                      <a:noFill/>
                    </a:lnR>
                    <a:lnT>
                      <a:noFill/>
                    </a:lnT>
                    <a:lnB w="6350" cap="flat" cmpd="sng">
                      <a:solidFill>
                        <a:srgbClr val="B8CCE4"/>
                      </a:solidFill>
                      <a:prstDash val="solid"/>
                      <a:headEnd type="none" w="med" len="med"/>
                      <a:tailEnd type="none" w="med" len="med"/>
                    </a:lnB>
                  </a:tcPr>
                </a:tc>
                <a:tc gridSpan="3">
                  <a:txBody>
                    <a:bodyPr/>
                    <a:p>
                      <a:pPr algn="ctr" fontAlgn="ctr"/>
                      <a:r>
                        <a:rPr sz="1000" b="1" i="0">
                          <a:solidFill>
                            <a:srgbClr val="FFFFFF"/>
                          </a:solidFill>
                          <a:latin typeface="Arial" panose="020B0604020202020204"/>
                          <a:ea typeface="Arial" panose="020B0604020202020204"/>
                        </a:rPr>
                        <a:t>Vegetable Prices (Rs/kg)</a:t>
                      </a:r>
                      <a:endParaRPr sz="1000" b="1" i="0">
                        <a:solidFill>
                          <a:srgbClr val="FFFFFF"/>
                        </a:solidFill>
                        <a:latin typeface="Arial" panose="020B0604020202020204"/>
                        <a:ea typeface="Arial" panose="020B0604020202020204"/>
                      </a:endParaRPr>
                    </a:p>
                  </a:txBody>
                  <a:tcPr marL="9842" marR="9842" marT="9842" marB="0" anchor="ctr" anchorCtr="0">
                    <a:lnL>
                      <a:noFill/>
                    </a:lnL>
                    <a:lnR>
                      <a:noFill/>
                    </a:lnR>
                    <a:lnT>
                      <a:noFill/>
                    </a:lnT>
                    <a:lnB w="6350" cap="flat" cmpd="sng">
                      <a:solidFill>
                        <a:srgbClr val="B8CCE4"/>
                      </a:solidFill>
                      <a:prstDash val="solid"/>
                      <a:headEnd type="none" w="med" len="med"/>
                      <a:tailEnd type="none" w="med" len="med"/>
                    </a:lnB>
                    <a:solidFill>
                      <a:srgbClr val="C55A11"/>
                    </a:solidFill>
                  </a:tcPr>
                </a:tc>
                <a:tc hMerge="1">
                  <a:tcPr>
                    <a:lnT>
                      <a:noFill/>
                    </a:lnT>
                    <a:lnB w="6350" cap="flat" cmpd="sng">
                      <a:solidFill>
                        <a:srgbClr val="B8CCE4"/>
                      </a:solidFill>
                      <a:prstDash val="solid"/>
                      <a:headEnd type="none" w="med" len="med"/>
                      <a:tailEnd type="none" w="med" len="med"/>
                    </a:lnB>
                  </a:tcPr>
                </a:tc>
                <a:tc hMerge="1">
                  <a:tcPr>
                    <a:lnR>
                      <a:noFill/>
                    </a:lnR>
                    <a:lnT>
                      <a:noFill/>
                    </a:lnT>
                    <a:lnB w="6350" cap="flat" cmpd="sng">
                      <a:solidFill>
                        <a:srgbClr val="B8CCE4"/>
                      </a:solidFill>
                      <a:prstDash val="solid"/>
                      <a:headEnd type="none" w="med" len="med"/>
                      <a:tailEnd type="none" w="med" len="med"/>
                    </a:lnB>
                  </a:tcPr>
                </a:tc>
              </a:tr>
              <a:tr h="638175">
                <a:tc>
                  <a:txBody>
                    <a:bodyPr/>
                    <a:p>
                      <a:pPr algn="ctr" fontAlgn="ctr"/>
                      <a:r>
                        <a:rPr sz="900" b="1" i="0">
                          <a:solidFill>
                            <a:srgbClr val="FFFFFF"/>
                          </a:solidFill>
                          <a:latin typeface="Arial" panose="020B0604020202020204"/>
                          <a:ea typeface="Arial" panose="020B0604020202020204"/>
                        </a:rPr>
                        <a:t>Date</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3F3F76"/>
                    </a:solidFill>
                  </a:tcPr>
                </a:tc>
                <a:tc>
                  <a:txBody>
                    <a:bodyPr/>
                    <a:p>
                      <a:pPr algn="ctr" fontAlgn="ctr"/>
                      <a:r>
                        <a:rPr sz="900" b="1" i="0">
                          <a:solidFill>
                            <a:srgbClr val="FFFFFF"/>
                          </a:solidFill>
                          <a:latin typeface="Arial" panose="020B0604020202020204"/>
                          <a:ea typeface="Arial" panose="020B0604020202020204"/>
                        </a:rPr>
                        <a:t>Day</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3F3F76"/>
                    </a:solidFill>
                  </a:tcPr>
                </a:tc>
                <a:tc>
                  <a:txBody>
                    <a:bodyPr/>
                    <a:p>
                      <a:pPr algn="ctr" fontAlgn="ctr"/>
                      <a:r>
                        <a:rPr sz="900" b="1" i="0">
                          <a:solidFill>
                            <a:srgbClr val="FFFFFF"/>
                          </a:solidFill>
                          <a:latin typeface="Arial" panose="020B0604020202020204"/>
                          <a:ea typeface="Arial" panose="020B0604020202020204"/>
                        </a:rPr>
                        <a:t>Month</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3F3F76"/>
                    </a:solidFill>
                  </a:tcPr>
                </a:tc>
                <a:tc>
                  <a:txBody>
                    <a:bodyPr/>
                    <a:p>
                      <a:pPr algn="ctr" fontAlgn="ctr"/>
                      <a:r>
                        <a:rPr sz="900" b="1" i="0">
                          <a:solidFill>
                            <a:srgbClr val="FFFFFF"/>
                          </a:solidFill>
                          <a:latin typeface="Arial" panose="020B0604020202020204"/>
                          <a:ea typeface="Arial" panose="020B0604020202020204"/>
                        </a:rPr>
                        <a:t>Year</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3F3F76"/>
                    </a:solidFill>
                  </a:tcPr>
                </a:tc>
                <a:tc>
                  <a:txBody>
                    <a:bodyPr/>
                    <a:p>
                      <a:pPr algn="ctr" fontAlgn="ctr"/>
                      <a:r>
                        <a:rPr sz="900" b="1" i="0">
                          <a:solidFill>
                            <a:srgbClr val="FFFFFF"/>
                          </a:solidFill>
                          <a:latin typeface="Arial" panose="020B0604020202020204"/>
                          <a:ea typeface="Arial" panose="020B0604020202020204"/>
                        </a:rPr>
                        <a:t>Temp (C)</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2E75B6"/>
                    </a:solidFill>
                  </a:tcPr>
                </a:tc>
                <a:tc>
                  <a:txBody>
                    <a:bodyPr/>
                    <a:p>
                      <a:pPr algn="ctr" fontAlgn="ctr"/>
                      <a:r>
                        <a:rPr sz="900" b="1" i="0">
                          <a:solidFill>
                            <a:srgbClr val="FFFFFF"/>
                          </a:solidFill>
                          <a:latin typeface="Arial" panose="020B0604020202020204"/>
                          <a:ea typeface="Arial" panose="020B0604020202020204"/>
                        </a:rPr>
                        <a:t>Rainfall (mm)</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2E75B6"/>
                    </a:solidFill>
                  </a:tcPr>
                </a:tc>
                <a:tc>
                  <a:txBody>
                    <a:bodyPr/>
                    <a:p>
                      <a:pPr algn="ctr" fontAlgn="ctr"/>
                      <a:r>
                        <a:rPr sz="900" b="1" i="0">
                          <a:solidFill>
                            <a:srgbClr val="FFFFFF"/>
                          </a:solidFill>
                          <a:latin typeface="Arial" panose="020B0604020202020204"/>
                          <a:ea typeface="Arial" panose="020B0604020202020204"/>
                        </a:rPr>
                        <a:t>Humidity (%)</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2E75B6"/>
                    </a:solidFill>
                  </a:tcPr>
                </a:tc>
                <a:tc>
                  <a:txBody>
                    <a:bodyPr/>
                    <a:p>
                      <a:pPr algn="ctr" fontAlgn="ctr"/>
                      <a:r>
                        <a:rPr sz="900" b="1" i="0">
                          <a:solidFill>
                            <a:srgbClr val="FFFFFF"/>
                          </a:solidFill>
                          <a:latin typeface="Arial" panose="020B0604020202020204"/>
                          <a:ea typeface="Arial" panose="020B0604020202020204"/>
                        </a:rPr>
                        <a:t>Onion (Rs/kg)</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C55A11"/>
                    </a:solidFill>
                  </a:tcPr>
                </a:tc>
                <a:tc>
                  <a:txBody>
                    <a:bodyPr/>
                    <a:p>
                      <a:pPr algn="ctr" fontAlgn="ctr"/>
                      <a:r>
                        <a:rPr sz="900" b="1" i="0">
                          <a:solidFill>
                            <a:srgbClr val="FFFFFF"/>
                          </a:solidFill>
                          <a:latin typeface="Arial" panose="020B0604020202020204"/>
                          <a:ea typeface="Arial" panose="020B0604020202020204"/>
                        </a:rPr>
                        <a:t>Tomato (Rs/kg)</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C55A11"/>
                    </a:solidFill>
                  </a:tcPr>
                </a:tc>
                <a:tc>
                  <a:txBody>
                    <a:bodyPr/>
                    <a:p>
                      <a:pPr algn="ctr" fontAlgn="ctr"/>
                      <a:r>
                        <a:rPr sz="900" b="1" i="0">
                          <a:solidFill>
                            <a:srgbClr val="FFFFFF"/>
                          </a:solidFill>
                          <a:latin typeface="Arial" panose="020B0604020202020204"/>
                          <a:ea typeface="Arial" panose="020B0604020202020204"/>
                        </a:rPr>
                        <a:t>Chilli (Rs/kg)</a:t>
                      </a:r>
                      <a:endParaRPr sz="900" b="1" i="0">
                        <a:solidFill>
                          <a:srgbClr val="FFFFFF"/>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C55A11"/>
                    </a:solidFill>
                  </a:tcPr>
                </a:tc>
              </a:tr>
              <a:tr h="342900">
                <a:tc>
                  <a:txBody>
                    <a:bodyPr/>
                    <a:p>
                      <a:pPr algn="ctr" fontAlgn="ctr"/>
                      <a:r>
                        <a:rPr sz="900" b="0" i="0">
                          <a:solidFill>
                            <a:srgbClr val="000000"/>
                          </a:solidFill>
                          <a:latin typeface="Arial" panose="020B0604020202020204"/>
                          <a:ea typeface="Arial" panose="020B0604020202020204"/>
                        </a:rPr>
                        <a:t>16-Apr-2016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Saturday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30.9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52.6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41.5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38.9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128.3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0995">
                <a:tc>
                  <a:txBody>
                    <a:bodyPr/>
                    <a:p>
                      <a:pPr algn="ctr" fontAlgn="ctr"/>
                      <a:r>
                        <a:rPr sz="900" b="0" i="0">
                          <a:solidFill>
                            <a:srgbClr val="000000"/>
                          </a:solidFill>
                          <a:latin typeface="Arial" panose="020B0604020202020204"/>
                          <a:ea typeface="Arial" panose="020B0604020202020204"/>
                        </a:rPr>
                        <a:t>17-Apr-2016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Sunday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29.7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0.7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32.6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42.4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37.5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126.8</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2265">
                <a:tc>
                  <a:txBody>
                    <a:bodyPr/>
                    <a:p>
                      <a:pPr algn="ctr" fontAlgn="ctr"/>
                      <a:r>
                        <a:rPr sz="900" b="0" i="0">
                          <a:solidFill>
                            <a:srgbClr val="000000"/>
                          </a:solidFill>
                          <a:latin typeface="Arial" panose="020B0604020202020204"/>
                          <a:ea typeface="Arial" panose="020B0604020202020204"/>
                        </a:rPr>
                        <a:t>18-Apr-2016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Monday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29.6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51.7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40.3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36.1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125.5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1630">
                <a:tc>
                  <a:txBody>
                    <a:bodyPr/>
                    <a:p>
                      <a:pPr algn="ctr" fontAlgn="ctr"/>
                      <a:r>
                        <a:rPr sz="900" b="0" i="0">
                          <a:solidFill>
                            <a:srgbClr val="000000"/>
                          </a:solidFill>
                          <a:latin typeface="Arial" panose="020B0604020202020204"/>
                          <a:ea typeface="Arial" panose="020B0604020202020204"/>
                        </a:rPr>
                        <a:t>19-Apr-2016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Tuesday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31.1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0.2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35.9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40.1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42.5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126.8</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1630">
                <a:tc>
                  <a:txBody>
                    <a:bodyPr/>
                    <a:p>
                      <a:pPr algn="ctr" fontAlgn="ctr"/>
                      <a:r>
                        <a:rPr sz="900" b="0" i="0">
                          <a:solidFill>
                            <a:srgbClr val="000000"/>
                          </a:solidFill>
                          <a:latin typeface="Arial" panose="020B0604020202020204"/>
                          <a:ea typeface="Arial" panose="020B0604020202020204"/>
                        </a:rPr>
                        <a:t>20-Apr-2016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Wednesday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30.9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46.6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39.3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41.7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123.7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1630">
                <a:tc>
                  <a:txBody>
                    <a:bodyPr/>
                    <a:p>
                      <a:pPr algn="ctr" fontAlgn="ctr"/>
                      <a:r>
                        <a:rPr sz="900" b="0" i="0">
                          <a:solidFill>
                            <a:srgbClr val="000000"/>
                          </a:solidFill>
                          <a:latin typeface="Arial" panose="020B0604020202020204"/>
                          <a:ea typeface="Arial" panose="020B0604020202020204"/>
                        </a:rPr>
                        <a:t>21-Apr-2016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Thursday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47.1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37.9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48.7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127.4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1630">
                <a:tc>
                  <a:txBody>
                    <a:bodyPr/>
                    <a:p>
                      <a:pPr algn="ctr" fontAlgn="ctr"/>
                      <a:r>
                        <a:rPr sz="900" b="0" i="0">
                          <a:solidFill>
                            <a:srgbClr val="000000"/>
                          </a:solidFill>
                          <a:latin typeface="Arial" panose="020B0604020202020204"/>
                          <a:ea typeface="Arial" panose="020B0604020202020204"/>
                        </a:rPr>
                        <a:t>22-Apr-2016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Friday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30.6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42.7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37.7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47.9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129.7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1630">
                <a:tc>
                  <a:txBody>
                    <a:bodyPr/>
                    <a:p>
                      <a:pPr algn="ctr" fontAlgn="ctr"/>
                      <a:r>
                        <a:rPr sz="900" b="0" i="0">
                          <a:solidFill>
                            <a:srgbClr val="000000"/>
                          </a:solidFill>
                          <a:latin typeface="Arial" panose="020B0604020202020204"/>
                          <a:ea typeface="Arial" panose="020B0604020202020204"/>
                        </a:rPr>
                        <a:t>23-Apr-2016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Saturday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33.0</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0.1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46.0</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35.6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49.3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132.4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1630">
                <a:tc>
                  <a:txBody>
                    <a:bodyPr/>
                    <a:p>
                      <a:pPr algn="ctr" fontAlgn="ctr"/>
                      <a:r>
                        <a:rPr sz="900" b="0" i="0">
                          <a:solidFill>
                            <a:srgbClr val="000000"/>
                          </a:solidFill>
                          <a:latin typeface="Arial" panose="020B0604020202020204"/>
                          <a:ea typeface="Arial" panose="020B0604020202020204"/>
                        </a:rPr>
                        <a:t>24-Apr-2016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Sunday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33.4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31.1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34.7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48.4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127.9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2900">
                <a:tc>
                  <a:txBody>
                    <a:bodyPr/>
                    <a:p>
                      <a:pPr algn="ctr" fontAlgn="ctr"/>
                      <a:r>
                        <a:rPr sz="900" b="0" i="0">
                          <a:solidFill>
                            <a:srgbClr val="000000"/>
                          </a:solidFill>
                          <a:latin typeface="Arial" panose="020B0604020202020204"/>
                          <a:ea typeface="Arial" panose="020B0604020202020204"/>
                        </a:rPr>
                        <a:t>25-Apr-2016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Monday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30.4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39.4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33.2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50.5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128.9</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1630">
                <a:tc>
                  <a:txBody>
                    <a:bodyPr/>
                    <a:p>
                      <a:pPr algn="ctr" fontAlgn="ctr"/>
                      <a:r>
                        <a:rPr sz="900" b="0" i="0">
                          <a:solidFill>
                            <a:srgbClr val="000000"/>
                          </a:solidFill>
                          <a:latin typeface="Arial" panose="020B0604020202020204"/>
                          <a:ea typeface="Arial" panose="020B0604020202020204"/>
                        </a:rPr>
                        <a:t>26-Apr-2016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Tuesday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30.8</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40.7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33.7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54.2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139.0</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0360">
                <a:tc>
                  <a:txBody>
                    <a:bodyPr/>
                    <a:p>
                      <a:pPr algn="ctr" fontAlgn="ctr"/>
                      <a:r>
                        <a:rPr sz="900" b="0" i="0">
                          <a:solidFill>
                            <a:srgbClr val="000000"/>
                          </a:solidFill>
                          <a:latin typeface="Arial" panose="020B0604020202020204"/>
                          <a:ea typeface="Arial" panose="020B0604020202020204"/>
                        </a:rPr>
                        <a:t>27-Apr-2016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Wednesday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31.5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28.0</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33.4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56.4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139.1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2900">
                <a:tc>
                  <a:txBody>
                    <a:bodyPr/>
                    <a:p>
                      <a:pPr algn="ctr" fontAlgn="ctr"/>
                      <a:r>
                        <a:rPr sz="900" b="0" i="0">
                          <a:solidFill>
                            <a:srgbClr val="000000"/>
                          </a:solidFill>
                          <a:latin typeface="Arial" panose="020B0604020202020204"/>
                          <a:ea typeface="Arial" panose="020B0604020202020204"/>
                        </a:rPr>
                        <a:t>28-Apr-2016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Thursday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34.2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2.1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35.8</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32.4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55.0</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140.6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r h="340360">
                <a:tc>
                  <a:txBody>
                    <a:bodyPr/>
                    <a:p>
                      <a:pPr algn="ctr" fontAlgn="ctr"/>
                      <a:r>
                        <a:rPr sz="900" b="0" i="0">
                          <a:solidFill>
                            <a:srgbClr val="000000"/>
                          </a:solidFill>
                          <a:latin typeface="Arial" panose="020B0604020202020204"/>
                          <a:ea typeface="Arial" panose="020B0604020202020204"/>
                        </a:rPr>
                        <a:t>29-Apr-2016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Friday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32.2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0.1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45.4</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33.1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58.3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c>
                  <a:txBody>
                    <a:bodyPr/>
                    <a:p>
                      <a:pPr algn="ctr" fontAlgn="ctr"/>
                      <a:r>
                        <a:rPr sz="900" b="0" i="0">
                          <a:solidFill>
                            <a:srgbClr val="000000"/>
                          </a:solidFill>
                          <a:latin typeface="Arial" panose="020B0604020202020204"/>
                          <a:ea typeface="Arial" panose="020B0604020202020204"/>
                        </a:rPr>
                        <a:t>141.1</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FFF"/>
                    </a:solidFill>
                  </a:tcPr>
                </a:tc>
              </a:tr>
              <a:tr h="342900">
                <a:tc>
                  <a:txBody>
                    <a:bodyPr/>
                    <a:p>
                      <a:pPr algn="ctr" fontAlgn="ctr"/>
                      <a:r>
                        <a:rPr sz="900" b="0" i="0">
                          <a:solidFill>
                            <a:srgbClr val="000000"/>
                          </a:solidFill>
                          <a:latin typeface="Arial" panose="020B0604020202020204"/>
                          <a:ea typeface="Arial" panose="020B0604020202020204"/>
                        </a:rPr>
                        <a:t>30-Apr-2016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Saturday</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April</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2016</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2F2F2"/>
                    </a:solidFill>
                  </a:tcPr>
                </a:tc>
                <a:tc>
                  <a:txBody>
                    <a:bodyPr/>
                    <a:p>
                      <a:pPr algn="ctr" fontAlgn="ctr"/>
                      <a:r>
                        <a:rPr sz="900" b="0" i="0">
                          <a:solidFill>
                            <a:srgbClr val="000000"/>
                          </a:solidFill>
                          <a:latin typeface="Arial" panose="020B0604020202020204"/>
                          <a:ea typeface="Arial" panose="020B0604020202020204"/>
                        </a:rPr>
                        <a:t>33.3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0.3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37.3</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EBF3FB"/>
                    </a:solidFill>
                  </a:tcPr>
                </a:tc>
                <a:tc>
                  <a:txBody>
                    <a:bodyPr/>
                    <a:p>
                      <a:pPr algn="ctr" fontAlgn="ctr"/>
                      <a:r>
                        <a:rPr sz="900" b="0" i="0">
                          <a:solidFill>
                            <a:srgbClr val="000000"/>
                          </a:solidFill>
                          <a:latin typeface="Arial" panose="020B0604020202020204"/>
                          <a:ea typeface="Arial" panose="020B0604020202020204"/>
                        </a:rPr>
                        <a:t>32.7</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54.5</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c>
                  <a:txBody>
                    <a:bodyPr/>
                    <a:p>
                      <a:pPr algn="ctr" fontAlgn="ctr"/>
                      <a:r>
                        <a:rPr sz="900" b="0" i="0">
                          <a:solidFill>
                            <a:srgbClr val="000000"/>
                          </a:solidFill>
                          <a:latin typeface="Arial" panose="020B0604020202020204"/>
                          <a:ea typeface="Arial" panose="020B0604020202020204"/>
                        </a:rPr>
                        <a:t>133.2</a:t>
                      </a:r>
                      <a:endParaRPr sz="900" b="0" i="0">
                        <a:solidFill>
                          <a:srgbClr val="000000"/>
                        </a:solidFill>
                        <a:latin typeface="Arial" panose="020B0604020202020204"/>
                        <a:ea typeface="Arial" panose="020B0604020202020204"/>
                      </a:endParaRPr>
                    </a:p>
                  </a:txBody>
                  <a:tcPr marL="9842" marR="9842" marT="9842" marB="0" anchor="ctr" anchorCtr="0">
                    <a:lnL w="6350" cap="flat" cmpd="sng">
                      <a:solidFill>
                        <a:srgbClr val="B8CCE4"/>
                      </a:solidFill>
                      <a:prstDash val="solid"/>
                      <a:headEnd type="none" w="med" len="med"/>
                      <a:tailEnd type="none" w="med" len="med"/>
                    </a:lnL>
                    <a:lnR w="6350" cap="flat" cmpd="sng">
                      <a:solidFill>
                        <a:srgbClr val="B8CCE4"/>
                      </a:solidFill>
                      <a:prstDash val="solid"/>
                      <a:headEnd type="none" w="med" len="med"/>
                      <a:tailEnd type="none" w="med" len="med"/>
                    </a:lnR>
                    <a:lnT w="6350" cap="flat" cmpd="sng">
                      <a:solidFill>
                        <a:srgbClr val="B8CCE4"/>
                      </a:solidFill>
                      <a:prstDash val="solid"/>
                      <a:headEnd type="none" w="med" len="med"/>
                      <a:tailEnd type="none" w="med" len="med"/>
                    </a:lnT>
                    <a:lnB w="6350" cap="flat" cmpd="sng">
                      <a:solidFill>
                        <a:srgbClr val="B8CCE4"/>
                      </a:solidFill>
                      <a:prstDash val="solid"/>
                      <a:headEnd type="none" w="med" len="med"/>
                      <a:tailEnd type="none" w="med" len="med"/>
                    </a:lnB>
                    <a:solidFill>
                      <a:srgbClr val="FFF2E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 y="457200"/>
            <a:ext cx="11330305" cy="5930900"/>
          </a:xfrm>
          <a:prstGeom prst="rect">
            <a:avLst/>
          </a:prstGeom>
          <a:noFill/>
        </p:spPr>
        <p:txBody>
          <a:bodyPr wrap="square" rtlCol="0">
            <a:noAutofit/>
          </a:bodyPr>
          <a:p>
            <a:r>
              <a:rPr lang="en-US" sz="4400"/>
              <a:t>Problems in the Dataset  and Model</a:t>
            </a:r>
            <a:endParaRPr lang="en-US" sz="4400"/>
          </a:p>
          <a:p>
            <a:endParaRPr lang="en-US" sz="4400"/>
          </a:p>
          <a:p>
            <a:pPr marL="342900" indent="-342900">
              <a:buFont typeface="Arial" panose="020B0604020202020204" pitchFamily="34" charset="0"/>
              <a:buChar char="•"/>
            </a:pPr>
            <a:r>
              <a:rPr lang="en-US" sz="2800">
                <a:latin typeface="Bahnschrift Light" panose="020B0502040204020203" charset="0"/>
                <a:cs typeface="Bahnschrift Light" panose="020B0502040204020203" charset="0"/>
              </a:rPr>
              <a:t>weather cannot be only factor for price prediction </a:t>
            </a: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800">
                <a:latin typeface="Bahnschrift Light" panose="020B0502040204020203" charset="0"/>
                <a:cs typeface="Bahnschrift Light" panose="020B0502040204020203" charset="0"/>
              </a:rPr>
              <a:t>the trend may be only for general it may not applied for every situation</a:t>
            </a: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800">
                <a:latin typeface="Bahnschrift Light" panose="020B0502040204020203" charset="0"/>
                <a:cs typeface="Bahnschrift Light" panose="020B0502040204020203" charset="0"/>
              </a:rPr>
              <a:t> emergency situation may occure  that can influence the price</a:t>
            </a: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800">
                <a:latin typeface="Bahnschrift Light" panose="020B0502040204020203" charset="0"/>
                <a:cs typeface="Bahnschrift Light" panose="020B0502040204020203" charset="0"/>
              </a:rPr>
              <a:t>the demand and supply may change according to consumer and produce</a:t>
            </a: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800">
                <a:latin typeface="Bahnschrift Light" panose="020B0502040204020203" charset="0"/>
                <a:cs typeface="Bahnschrift Light" panose="020B0502040204020203" charset="0"/>
              </a:rPr>
              <a:t>The data collection cannot be average based on country ,states,this may give in accurate prediction </a:t>
            </a: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r>
              <a:rPr lang="en-US" sz="2800">
                <a:latin typeface="Bahnschrift Light" panose="020B0502040204020203" charset="0"/>
                <a:cs typeface="Bahnschrift Light" panose="020B0502040204020203" charset="0"/>
              </a:rPr>
              <a:t>Data collection should be made on only on grid base system which is very difficult</a:t>
            </a: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endParaRPr lang="en-US" sz="2800">
              <a:latin typeface="Bahnschrift Light" panose="020B0502040204020203" charset="0"/>
              <a:cs typeface="Bahnschrift Light" panose="020B0502040204020203" charset="0"/>
            </a:endParaRPr>
          </a:p>
          <a:p>
            <a:pPr marL="342900" indent="-342900">
              <a:buFont typeface="Arial" panose="020B0604020202020204" pitchFamily="34" charset="0"/>
              <a:buChar char="•"/>
            </a:pPr>
            <a:endParaRPr lang="en-US" sz="2800">
              <a:latin typeface="Bahnschrift Light" panose="020B0502040204020203" charset="0"/>
              <a:cs typeface="Bahnschrift Light" panose="020B0502040204020203"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3020" y="358140"/>
            <a:ext cx="2233930" cy="780415"/>
          </a:xfrm>
          <a:prstGeom prst="rect">
            <a:avLst/>
          </a:prstGeom>
          <a:noFill/>
        </p:spPr>
        <p:txBody>
          <a:bodyPr wrap="none" rtlCol="0">
            <a:noAutofit/>
          </a:bodyPr>
          <a:lstStyle/>
          <a:p>
            <a:r>
              <a:rPr lang="en-GB" sz="4400" b="1"/>
              <a:t>APPROACH</a:t>
            </a:r>
            <a:endParaRPr lang="en-IN" sz="4400"/>
          </a:p>
        </p:txBody>
      </p:sp>
      <p:sp>
        <p:nvSpPr>
          <p:cNvPr id="3" name="TextBox 2"/>
          <p:cNvSpPr txBox="1"/>
          <p:nvPr/>
        </p:nvSpPr>
        <p:spPr>
          <a:xfrm>
            <a:off x="1032510" y="1161415"/>
            <a:ext cx="5476875" cy="5749290"/>
          </a:xfrm>
          <a:prstGeom prst="rect">
            <a:avLst/>
          </a:prstGeom>
          <a:noFill/>
        </p:spPr>
        <p:txBody>
          <a:bodyPr wrap="square" rtlCol="0">
            <a:noAutofit/>
          </a:bodyPr>
          <a:lstStyle/>
          <a:p>
            <a:r>
              <a:rPr lang="en-IN" b="1"/>
              <a:t>•</a:t>
            </a:r>
            <a:r>
              <a:rPr lang="en-IN" b="1">
                <a:latin typeface="Bahnschrift Light" panose="020B0502040204020203" charset="0"/>
                <a:cs typeface="Bahnschrift Light" panose="020B0502040204020203" charset="0"/>
              </a:rPr>
              <a:t> </a:t>
            </a:r>
            <a:r>
              <a:rPr lang="en-IN" sz="2400" b="1">
                <a:latin typeface="Bahnschrift Light" panose="020B0502040204020203" charset="0"/>
                <a:cs typeface="Bahnschrift Light" panose="020B0502040204020203" charset="0"/>
              </a:rPr>
              <a:t>Data Preprocessing</a:t>
            </a:r>
            <a:endParaRPr lang="en-IN" sz="2400" b="1">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rPr>
              <a:t>Upload CSV/Excel dataset in Google </a:t>
            </a:r>
            <a:r>
              <a:rPr lang="en-IN" sz="2400" err="1">
                <a:latin typeface="Bahnschrift Light" panose="020B0502040204020203" charset="0"/>
                <a:cs typeface="Bahnschrift Light" panose="020B0502040204020203" charset="0"/>
              </a:rPr>
              <a:t>Colab</a:t>
            </a:r>
            <a:r>
              <a:rPr lang="en-IN" sz="2400">
                <a:latin typeface="Bahnschrift Light" panose="020B0502040204020203" charset="0"/>
                <a:cs typeface="Bahnschrift Light" panose="020B0502040204020203" charset="0"/>
              </a:rPr>
              <a:t> </a:t>
            </a:r>
            <a:endParaRPr lang="en-IN" sz="2400">
              <a:latin typeface="Bahnschrift Light" panose="020B0502040204020203" charset="0"/>
              <a:cs typeface="Bahnschrift Light" panose="020B0502040204020203" charset="0"/>
            </a:endParaRPr>
          </a:p>
          <a:p>
            <a:r>
              <a:rPr lang="en-US" altLang="en-IN" sz="2400">
                <a:latin typeface="Bahnschrift Light" panose="020B0502040204020203" charset="0"/>
                <a:cs typeface="Bahnschrift Light" panose="020B0502040204020203" charset="0"/>
              </a:rPr>
              <a:t>Feature selected(Rainfall,Temperature,Humidity)</a:t>
            </a:r>
            <a:r>
              <a:rPr lang="en-IN" sz="2400">
                <a:latin typeface="Bahnschrift Light" panose="020B0502040204020203" charset="0"/>
                <a:cs typeface="Bahnschrift Light" panose="020B0502040204020203" charset="0"/>
              </a:rPr>
              <a:t>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rPr>
              <a:t>Normalize data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rPr>
              <a:t>Train-test split (80:20) </a:t>
            </a:r>
            <a:endParaRPr lang="en-IN" sz="2400">
              <a:latin typeface="Bahnschrift Light" panose="020B0502040204020203" charset="0"/>
              <a:cs typeface="Bahnschrift Light" panose="020B0502040204020203" charset="0"/>
            </a:endParaRPr>
          </a:p>
          <a:p>
            <a:endParaRPr lang="en-IN" sz="2400">
              <a:latin typeface="Bahnschrift Light" panose="020B0502040204020203" charset="0"/>
              <a:cs typeface="Bahnschrift Light" panose="020B0502040204020203" charset="0"/>
            </a:endParaRPr>
          </a:p>
          <a:p>
            <a:r>
              <a:rPr lang="en-IN" sz="2400" b="1">
                <a:latin typeface="Bahnschrift Light" panose="020B0502040204020203" charset="0"/>
                <a:cs typeface="Bahnschrift Light" panose="020B0502040204020203" charset="0"/>
              </a:rPr>
              <a:t>• Exploratory Data Analysi</a:t>
            </a:r>
            <a:r>
              <a:rPr lang="en-US" altLang="en-IN" sz="2400" b="1">
                <a:latin typeface="Bahnschrift Light" panose="020B0502040204020203" charset="0"/>
                <a:cs typeface="Bahnschrift Light" panose="020B0502040204020203" charset="0"/>
              </a:rPr>
              <a:t>s</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rPr>
              <a:t>Correlation heatmap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rPr>
              <a:t>Identify key influencing parameters </a:t>
            </a:r>
            <a:br>
              <a:rPr lang="en-IN" sz="2400">
                <a:latin typeface="Bahnschrift Light" panose="020B0502040204020203" charset="0"/>
                <a:cs typeface="Bahnschrift Light" panose="020B0502040204020203" charset="0"/>
              </a:rPr>
            </a:br>
            <a:endParaRPr lang="en-IN" sz="2400"/>
          </a:p>
          <a:p>
            <a:endParaRPr lang="en-IN" sz="2400"/>
          </a:p>
        </p:txBody>
      </p:sp>
      <p:sp>
        <p:nvSpPr>
          <p:cNvPr id="4" name="TextBox 3"/>
          <p:cNvSpPr txBox="1"/>
          <p:nvPr/>
        </p:nvSpPr>
        <p:spPr>
          <a:xfrm>
            <a:off x="6876913" y="646331"/>
            <a:ext cx="262890" cy="368300"/>
          </a:xfrm>
          <a:prstGeom prst="rect">
            <a:avLst/>
          </a:prstGeom>
          <a:noFill/>
        </p:spPr>
        <p:txBody>
          <a:bodyPr wrap="none" rtlCol="0">
            <a:spAutoFit/>
          </a:bodyPr>
          <a:lstStyle/>
          <a:p>
            <a:r>
              <a:rPr lang="en-IN" b="1"/>
              <a:t>•</a:t>
            </a:r>
            <a:endParaRPr lang="en-IN"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34695" y="292100"/>
            <a:ext cx="8409305" cy="4105910"/>
          </a:xfrm>
          <a:prstGeom prst="rect">
            <a:avLst/>
          </a:prstGeom>
          <a:noFill/>
        </p:spPr>
        <p:txBody>
          <a:bodyPr wrap="square" rtlCol="0" anchor="t">
            <a:noAutofit/>
          </a:bodyPr>
          <a:p>
            <a:r>
              <a:rPr lang="en-IN" sz="2400" b="1">
                <a:sym typeface="+mn-ea"/>
              </a:rPr>
              <a:t>•</a:t>
            </a:r>
            <a:r>
              <a:rPr lang="en-IN" sz="2400" b="1">
                <a:latin typeface="Bahnschrift Light" panose="020B0502040204020203" charset="0"/>
                <a:cs typeface="Bahnschrift Light" panose="020B0502040204020203" charset="0"/>
                <a:sym typeface="+mn-ea"/>
              </a:rPr>
              <a:t> Model Selection</a:t>
            </a:r>
            <a:endParaRPr lang="en-IN" sz="2400" b="1">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Random Forest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Decision Tree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Logistic Regression </a:t>
            </a:r>
            <a:endParaRPr lang="en-IN" sz="2400">
              <a:latin typeface="Bahnschrift Light" panose="020B0502040204020203" charset="0"/>
              <a:cs typeface="Bahnschrift Light" panose="020B0502040204020203" charset="0"/>
              <a:sym typeface="+mn-ea"/>
            </a:endParaRPr>
          </a:p>
          <a:p>
            <a:endParaRPr lang="en-IN" sz="2400">
              <a:latin typeface="Bahnschrift Light" panose="020B0502040204020203" charset="0"/>
              <a:cs typeface="Bahnschrift Light" panose="020B0502040204020203" charset="0"/>
              <a:sym typeface="+mn-ea"/>
            </a:endParaRPr>
          </a:p>
          <a:p>
            <a:r>
              <a:rPr lang="en-IN" sz="2400" b="1">
                <a:latin typeface="Bahnschrift Light" panose="020B0502040204020203" charset="0"/>
                <a:cs typeface="Bahnschrift Light" panose="020B0502040204020203" charset="0"/>
                <a:sym typeface="+mn-ea"/>
              </a:rPr>
              <a:t>• Model Training &amp; Validation</a:t>
            </a:r>
            <a:endParaRPr lang="en-IN" sz="2400" b="1">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Train models on training data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Test on unseen data  </a:t>
            </a:r>
            <a:endParaRPr lang="en-IN" sz="2400">
              <a:latin typeface="Bahnschrift Light" panose="020B0502040204020203" charset="0"/>
              <a:cs typeface="Bahnschrift Light" panose="020B0502040204020203" charset="0"/>
            </a:endParaRPr>
          </a:p>
          <a:p>
            <a:endParaRPr lang="en-IN" sz="2400">
              <a:latin typeface="Bahnschrift Light" panose="020B0502040204020203" charset="0"/>
              <a:cs typeface="Bahnschrift Light" panose="020B0502040204020203" charset="0"/>
            </a:endParaRPr>
          </a:p>
          <a:p>
            <a:r>
              <a:rPr lang="en-IN" sz="2400" b="1">
                <a:latin typeface="Bahnschrift Light" panose="020B0502040204020203" charset="0"/>
                <a:cs typeface="Bahnschrift Light" panose="020B0502040204020203" charset="0"/>
                <a:sym typeface="+mn-ea"/>
              </a:rPr>
              <a:t>• Evaluation Metrics</a:t>
            </a:r>
            <a:endParaRPr lang="en-IN" sz="2400" b="1">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Accuracy </a:t>
            </a:r>
            <a:endParaRPr lang="en-IN" sz="2400">
              <a:latin typeface="Bahnschrift Light" panose="020B0502040204020203" charset="0"/>
              <a:cs typeface="Bahnschrift Light" panose="020B0502040204020203" charset="0"/>
            </a:endParaRPr>
          </a:p>
          <a:p>
            <a:r>
              <a:rPr lang="en-IN" sz="2400">
                <a:latin typeface="Bahnschrift Light" panose="020B0502040204020203" charset="0"/>
                <a:cs typeface="Bahnschrift Light" panose="020B0502040204020203" charset="0"/>
                <a:sym typeface="+mn-ea"/>
              </a:rPr>
              <a:t>Confusion Matrix</a:t>
            </a:r>
            <a:endParaRPr lang="en-IN" sz="2400" b="1">
              <a:latin typeface="Bahnschrift Light" panose="020B0502040204020203" charset="0"/>
              <a:cs typeface="Bahnschrift Light" panose="020B0502040204020203" charset="0"/>
            </a:endParaRPr>
          </a:p>
          <a:p>
            <a:endParaRPr lang="en-IN" sz="2400">
              <a:latin typeface="Bahnschrift Light" panose="020B0502040204020203" charset="0"/>
              <a:cs typeface="Bahnschrift Light" panose="020B0502040204020203" charset="0"/>
            </a:endParaRPr>
          </a:p>
          <a:p>
            <a:br>
              <a:rPr lang="en-IN" sz="2400">
                <a:sym typeface="+mn-ea"/>
              </a:rPr>
            </a:br>
            <a:endParaRPr lang="en-IN" sz="240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r image"/>
          <p:cNvPicPr>
            <a:picLocks noChangeAspect="1"/>
          </p:cNvPicPr>
          <p:nvPr/>
        </p:nvPicPr>
        <p:blipFill>
          <a:blip r:embed="rId1"/>
          <a:stretch>
            <a:fillRect/>
          </a:stretch>
        </p:blipFill>
        <p:spPr>
          <a:xfrm>
            <a:off x="3229610" y="340995"/>
            <a:ext cx="5732780" cy="61544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209368" y="540774"/>
            <a:ext cx="3667432" cy="369332"/>
          </a:xfrm>
          <a:prstGeom prst="rect">
            <a:avLst/>
          </a:prstGeom>
          <a:noFill/>
        </p:spPr>
        <p:txBody>
          <a:bodyPr wrap="square" rtlCol="0">
            <a:spAutoFit/>
          </a:bodyPr>
          <a:lstStyle/>
          <a:p>
            <a:endParaRPr lang="en-IN"/>
          </a:p>
        </p:txBody>
      </p:sp>
      <p:graphicFrame>
        <p:nvGraphicFramePr>
          <p:cNvPr id="15" name="Table 14"/>
          <p:cNvGraphicFramePr>
            <a:graphicFrameLocks noGrp="1"/>
          </p:cNvGraphicFramePr>
          <p:nvPr/>
        </p:nvGraphicFramePr>
        <p:xfrm>
          <a:off x="1371600" y="4803140"/>
          <a:ext cx="9601200" cy="365760"/>
        </p:xfrm>
        <a:graphic>
          <a:graphicData uri="http://schemas.openxmlformats.org/drawingml/2006/table">
            <a:tbl>
              <a:tblPr/>
              <a:tblGrid>
                <a:gridCol w="4800600"/>
                <a:gridCol w="4800600"/>
              </a:tblGrid>
              <a:tr h="0">
                <a:tc>
                  <a:txBody>
                    <a:bodyPr/>
                    <a:lstStyle/>
                    <a:p>
                      <a:pPr>
                        <a:buNone/>
                      </a:pPr>
                      <a:endParaRPr lang="en-I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r>
            </a:tbl>
          </a:graphicData>
        </a:graphic>
      </p:graphicFrame>
      <p:graphicFrame>
        <p:nvGraphicFramePr>
          <p:cNvPr id="18" name="Table 17"/>
          <p:cNvGraphicFramePr>
            <a:graphicFrameLocks noGrp="1"/>
          </p:cNvGraphicFramePr>
          <p:nvPr/>
        </p:nvGraphicFramePr>
        <p:xfrm>
          <a:off x="1873045" y="1784743"/>
          <a:ext cx="9601200" cy="365760"/>
        </p:xfrm>
        <a:graphic>
          <a:graphicData uri="http://schemas.openxmlformats.org/drawingml/2006/table">
            <a:tbl>
              <a:tblPr/>
              <a:tblGrid>
                <a:gridCol w="4800600"/>
                <a:gridCol w="4800600"/>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r>
            </a:tbl>
          </a:graphicData>
        </a:graphic>
      </p:graphicFrame>
      <p:graphicFrame>
        <p:nvGraphicFramePr>
          <p:cNvPr id="20" name="Table 19"/>
          <p:cNvGraphicFramePr>
            <a:graphicFrameLocks noGrp="1"/>
          </p:cNvGraphicFramePr>
          <p:nvPr/>
        </p:nvGraphicFramePr>
        <p:xfrm>
          <a:off x="835742" y="0"/>
          <a:ext cx="11139948" cy="6904260"/>
        </p:xfrm>
        <a:graphic>
          <a:graphicData uri="http://schemas.openxmlformats.org/drawingml/2006/table">
            <a:tbl>
              <a:tblPr firstRow="1" bandRow="1">
                <a:tableStyleId>{5A111915-BE36-4E01-A7E5-04B1672EAD32}</a:tableStyleId>
              </a:tblPr>
              <a:tblGrid>
                <a:gridCol w="5569974"/>
                <a:gridCol w="5569974"/>
              </a:tblGrid>
              <a:tr h="594540">
                <a:tc>
                  <a:txBody>
                    <a:bodyPr/>
                    <a:lstStyle/>
                    <a:p>
                      <a:pPr>
                        <a:buNone/>
                      </a:pPr>
                      <a:r>
                        <a:rPr lang="en-IN" b="1"/>
                        <a:t>Tool / Technology</a:t>
                      </a:r>
                      <a:endParaRPr lang="en-IN"/>
                    </a:p>
                  </a:txBody>
                  <a:tcPr anchor="ctr"/>
                </a:tc>
                <a:tc>
                  <a:txBody>
                    <a:bodyPr/>
                    <a:lstStyle/>
                    <a:p>
                      <a:pPr>
                        <a:buNone/>
                      </a:pPr>
                      <a:r>
                        <a:rPr lang="en-IN" b="1"/>
                        <a:t>Role in the Project</a:t>
                      </a:r>
                      <a:endParaRPr lang="en-IN"/>
                    </a:p>
                  </a:txBody>
                  <a:tcPr anchor="ctr"/>
                </a:tc>
              </a:tr>
              <a:tr h="634298">
                <a:tc>
                  <a:txBody>
                    <a:bodyPr/>
                    <a:lstStyle/>
                    <a:p>
                      <a:pPr>
                        <a:buNone/>
                      </a:pPr>
                      <a:r>
                        <a:rPr lang="en-IN" b="1"/>
                        <a:t>Python 3.x</a:t>
                      </a:r>
                      <a:endParaRPr lang="en-IN"/>
                    </a:p>
                  </a:txBody>
                  <a:tcPr anchor="ctr"/>
                </a:tc>
                <a:tc>
                  <a:txBody>
                    <a:bodyPr/>
                    <a:lstStyle/>
                    <a:p>
                      <a:pPr>
                        <a:buNone/>
                      </a:pPr>
                      <a:r>
                        <a:rPr lang="en-US"/>
                        <a:t>Core programming language used to implement the entire ML pipeline</a:t>
                      </a:r>
                      <a:endParaRPr lang="en-US"/>
                    </a:p>
                  </a:txBody>
                  <a:tcPr anchor="ctr"/>
                </a:tc>
              </a:tr>
              <a:tr h="634298">
                <a:tc>
                  <a:txBody>
                    <a:bodyPr/>
                    <a:lstStyle/>
                    <a:p>
                      <a:pPr>
                        <a:buNone/>
                      </a:pPr>
                      <a:r>
                        <a:rPr lang="en-IN" b="1"/>
                        <a:t>pandas</a:t>
                      </a:r>
                      <a:endParaRPr lang="en-IN"/>
                    </a:p>
                  </a:txBody>
                  <a:tcPr anchor="ctr"/>
                </a:tc>
                <a:tc>
                  <a:txBody>
                    <a:bodyPr/>
                    <a:lstStyle/>
                    <a:p>
                      <a:pPr>
                        <a:buNone/>
                      </a:pPr>
                      <a:r>
                        <a:rPr lang="en-US"/>
                        <a:t>Used for data loading, manipulation, and preprocessing of dataset</a:t>
                      </a:r>
                      <a:endParaRPr lang="en-US"/>
                    </a:p>
                  </a:txBody>
                  <a:tcPr anchor="ctr"/>
                </a:tc>
              </a:tr>
              <a:tr h="594540">
                <a:tc>
                  <a:txBody>
                    <a:bodyPr/>
                    <a:lstStyle/>
                    <a:p>
                      <a:pPr>
                        <a:buNone/>
                      </a:pPr>
                      <a:r>
                        <a:rPr lang="en-IN" b="1"/>
                        <a:t>NumPy</a:t>
                      </a:r>
                      <a:endParaRPr lang="en-IN"/>
                    </a:p>
                  </a:txBody>
                  <a:tcPr anchor="ctr"/>
                </a:tc>
                <a:tc>
                  <a:txBody>
                    <a:bodyPr/>
                    <a:lstStyle/>
                    <a:p>
                      <a:pPr>
                        <a:buNone/>
                      </a:pPr>
                      <a:r>
                        <a:rPr lang="en-US"/>
                        <a:t>Performs numerical computations and array operations</a:t>
                      </a:r>
                      <a:endParaRPr lang="en-US"/>
                    </a:p>
                  </a:txBody>
                  <a:tcPr anchor="ctr"/>
                </a:tc>
              </a:tr>
              <a:tr h="634298">
                <a:tc>
                  <a:txBody>
                    <a:bodyPr/>
                    <a:lstStyle/>
                    <a:p>
                      <a:pPr>
                        <a:buNone/>
                      </a:pPr>
                      <a:r>
                        <a:rPr lang="en-IN" b="1"/>
                        <a:t>matplotlib</a:t>
                      </a:r>
                      <a:endParaRPr lang="en-IN"/>
                    </a:p>
                  </a:txBody>
                  <a:tcPr anchor="ctr"/>
                </a:tc>
                <a:tc>
                  <a:txBody>
                    <a:bodyPr/>
                    <a:lstStyle/>
                    <a:p>
                      <a:pPr>
                        <a:buNone/>
                      </a:pPr>
                      <a:r>
                        <a:rPr lang="en-US"/>
                        <a:t>Used for data visualization like bar charts and heatmaps</a:t>
                      </a:r>
                      <a:endParaRPr lang="en-US"/>
                    </a:p>
                  </a:txBody>
                  <a:tcPr anchor="ctr"/>
                </a:tc>
              </a:tr>
              <a:tr h="634298">
                <a:tc>
                  <a:txBody>
                    <a:bodyPr/>
                    <a:lstStyle/>
                    <a:p>
                      <a:pPr>
                        <a:buNone/>
                      </a:pPr>
                      <a:r>
                        <a:rPr lang="en-IN" b="1"/>
                        <a:t>scikit-learn</a:t>
                      </a:r>
                      <a:endParaRPr lang="en-IN"/>
                    </a:p>
                  </a:txBody>
                  <a:tcPr anchor="ctr"/>
                </a:tc>
                <a:tc>
                  <a:txBody>
                    <a:bodyPr/>
                    <a:lstStyle/>
                    <a:p>
                      <a:pPr>
                        <a:buNone/>
                      </a:pPr>
                      <a:r>
                        <a:rPr lang="en-US"/>
                        <a:t>Machine learning library used for model building and evaluation</a:t>
                      </a:r>
                      <a:endParaRPr lang="en-US"/>
                    </a:p>
                  </a:txBody>
                  <a:tcPr anchor="ctr"/>
                </a:tc>
              </a:tr>
              <a:tr h="634298">
                <a:tc>
                  <a:txBody>
                    <a:bodyPr/>
                    <a:lstStyle/>
                    <a:p>
                      <a:pPr>
                        <a:buNone/>
                      </a:pPr>
                      <a:r>
                        <a:rPr lang="en-IN" b="1"/>
                        <a:t>Random Forest Classifier</a:t>
                      </a:r>
                      <a:endParaRPr lang="en-IN"/>
                    </a:p>
                  </a:txBody>
                  <a:tcPr anchor="ctr"/>
                </a:tc>
                <a:tc>
                  <a:txBody>
                    <a:bodyPr/>
                    <a:lstStyle/>
                    <a:p>
                      <a:pPr>
                        <a:buNone/>
                      </a:pPr>
                      <a:r>
                        <a:rPr lang="en-US"/>
                        <a:t>Ensemble algorithm that improves accuracy using multiple decision trees</a:t>
                      </a:r>
                      <a:endParaRPr lang="en-US"/>
                    </a:p>
                  </a:txBody>
                  <a:tcPr anchor="ctr"/>
                </a:tc>
              </a:tr>
              <a:tr h="634298">
                <a:tc>
                  <a:txBody>
                    <a:bodyPr/>
                    <a:lstStyle/>
                    <a:p>
                      <a:pPr>
                        <a:buNone/>
                      </a:pPr>
                      <a:r>
                        <a:rPr lang="en-IN" b="1"/>
                        <a:t>Decision Tree Classifier</a:t>
                      </a:r>
                      <a:endParaRPr lang="en-IN"/>
                    </a:p>
                  </a:txBody>
                  <a:tcPr anchor="ctr"/>
                </a:tc>
                <a:tc>
                  <a:txBody>
                    <a:bodyPr/>
                    <a:lstStyle/>
                    <a:p>
                      <a:pPr>
                        <a:buNone/>
                      </a:pPr>
                      <a:r>
                        <a:rPr lang="en-US"/>
                        <a:t>Tree-based model that classifies data using decision rules</a:t>
                      </a:r>
                      <a:endParaRPr lang="en-US"/>
                    </a:p>
                  </a:txBody>
                  <a:tcPr anchor="ctr"/>
                </a:tc>
              </a:tr>
              <a:tr h="634298">
                <a:tc>
                  <a:txBody>
                    <a:bodyPr/>
                    <a:lstStyle/>
                    <a:p>
                      <a:pPr>
                        <a:buNone/>
                      </a:pPr>
                      <a:r>
                        <a:rPr lang="en-IN" b="1"/>
                        <a:t>Logistic Regression</a:t>
                      </a:r>
                      <a:endParaRPr lang="en-IN"/>
                    </a:p>
                  </a:txBody>
                  <a:tcPr anchor="ctr"/>
                </a:tc>
                <a:tc>
                  <a:txBody>
                    <a:bodyPr/>
                    <a:lstStyle/>
                    <a:p>
                      <a:pPr>
                        <a:buNone/>
                      </a:pPr>
                      <a:r>
                        <a:rPr lang="en-US"/>
                        <a:t>Statistical model used for binary classification (Safe/Unsafe)</a:t>
                      </a:r>
                      <a:endParaRPr lang="en-US"/>
                    </a:p>
                  </a:txBody>
                  <a:tcPr anchor="ctr"/>
                </a:tc>
              </a:tr>
              <a:tr h="594540">
                <a:tc>
                  <a:txBody>
                    <a:bodyPr/>
                    <a:lstStyle/>
                    <a:p>
                      <a:pPr>
                        <a:buNone/>
                      </a:pPr>
                      <a:r>
                        <a:rPr lang="en-IN" b="1"/>
                        <a:t>train_test_split</a:t>
                      </a:r>
                      <a:endParaRPr lang="en-IN"/>
                    </a:p>
                  </a:txBody>
                  <a:tcPr anchor="ctr"/>
                </a:tc>
                <a:tc>
                  <a:txBody>
                    <a:bodyPr/>
                    <a:lstStyle/>
                    <a:p>
                      <a:pPr>
                        <a:buNone/>
                      </a:pPr>
                      <a:r>
                        <a:rPr lang="en-US"/>
                        <a:t>Splits dataset into training and testing sets</a:t>
                      </a:r>
                      <a:endParaRPr lang="en-US"/>
                    </a:p>
                  </a:txBody>
                  <a:tcPr anchor="ctr"/>
                </a:tc>
              </a:tr>
              <a:tr h="634298">
                <a:tc>
                  <a:txBody>
                    <a:bodyPr/>
                    <a:lstStyle/>
                    <a:p>
                      <a:pPr>
                        <a:buNone/>
                      </a:pPr>
                      <a:r>
                        <a:rPr lang="en-IN" b="1"/>
                        <a:t>Confusion Matrix</a:t>
                      </a:r>
                      <a:endParaRPr lang="en-IN"/>
                    </a:p>
                  </a:txBody>
                  <a:tcPr anchor="ctr"/>
                </a:tc>
                <a:tc>
                  <a:txBody>
                    <a:bodyPr/>
                    <a:lstStyle/>
                    <a:p>
                      <a:pPr>
                        <a:buNone/>
                      </a:pPr>
                      <a:r>
                        <a:rPr lang="en-US"/>
                        <a:t>Evaluates classification performance by comparing actual vs predicted values</a:t>
                      </a:r>
                      <a:endParaRPr lang="en-US"/>
                    </a:p>
                  </a:txBody>
                  <a:tcPr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03457" y="225727"/>
            <a:ext cx="2998839" cy="798830"/>
          </a:xfrm>
          <a:prstGeom prst="rect">
            <a:avLst/>
          </a:prstGeom>
          <a:noFill/>
        </p:spPr>
        <p:txBody>
          <a:bodyPr wrap="square" rtlCol="0">
            <a:spAutoFit/>
          </a:bodyPr>
          <a:lstStyle/>
          <a:p>
            <a:endParaRPr lang="en-IN" sz="1400"/>
          </a:p>
          <a:p>
            <a:endParaRPr lang="en-IN" sz="1400"/>
          </a:p>
          <a:p>
            <a:endParaRPr lang="en-IN"/>
          </a:p>
        </p:txBody>
      </p:sp>
      <p:sp>
        <p:nvSpPr>
          <p:cNvPr id="4" name="TextBox 3"/>
          <p:cNvSpPr txBox="1"/>
          <p:nvPr/>
        </p:nvSpPr>
        <p:spPr>
          <a:xfrm>
            <a:off x="4866967" y="20963"/>
            <a:ext cx="2172930" cy="646331"/>
          </a:xfrm>
          <a:prstGeom prst="rect">
            <a:avLst/>
          </a:prstGeom>
          <a:noFill/>
        </p:spPr>
        <p:txBody>
          <a:bodyPr wrap="square" rtlCol="0">
            <a:spAutoFit/>
          </a:bodyPr>
          <a:lstStyle/>
          <a:p>
            <a:r>
              <a:rPr lang="en-IN" sz="3600" b="1"/>
              <a:t>OUTPUT</a:t>
            </a:r>
            <a:endParaRPr lang="en-IN" sz="3600" b="1"/>
          </a:p>
        </p:txBody>
      </p:sp>
      <p:sp>
        <p:nvSpPr>
          <p:cNvPr id="5" name="Text Box 4"/>
          <p:cNvSpPr txBox="1"/>
          <p:nvPr/>
        </p:nvSpPr>
        <p:spPr>
          <a:xfrm>
            <a:off x="305435" y="891540"/>
            <a:ext cx="5950585" cy="5688330"/>
          </a:xfrm>
          <a:prstGeom prst="rect">
            <a:avLst/>
          </a:prstGeom>
          <a:noFill/>
        </p:spPr>
        <p:txBody>
          <a:bodyPr wrap="square" rtlCol="0">
            <a:noAutofit/>
          </a:bodyPr>
          <a:p>
            <a:r>
              <a:rPr lang="en-US" altLang="en-US"/>
              <a:t>TRAINING RANDOM FOREST MODELS  (80% train / 20% test)</a:t>
            </a:r>
            <a:endParaRPr lang="en-US" altLang="en-US"/>
          </a:p>
          <a:p>
            <a:r>
              <a:rPr lang="en-US" altLang="en-US"/>
              <a:t>=================================================================</a:t>
            </a:r>
            <a:endParaRPr lang="en-US" altLang="en-US"/>
          </a:p>
          <a:p>
            <a:endParaRPr lang="en-US" altLang="en-US"/>
          </a:p>
          <a:p>
            <a:r>
              <a:rPr lang="en-US" altLang="en-US"/>
              <a:t>  [Onion]</a:t>
            </a:r>
            <a:endParaRPr lang="en-US" altLang="en-US"/>
          </a:p>
          <a:p>
            <a:r>
              <a:rPr lang="en-US" altLang="en-US"/>
              <a:t>    Train: 2945 | Test:  737</a:t>
            </a:r>
            <a:endParaRPr lang="en-US" altLang="en-US"/>
          </a:p>
          <a:p>
            <a:r>
              <a:rPr lang="en-US" altLang="en-US"/>
              <a:t>    Regressor  - MAE: Rs3.86/kg  |  RMSE: Rs4.86/kg  |  R2: 0.9041</a:t>
            </a:r>
            <a:endParaRPr lang="en-US" altLang="en-US"/>
          </a:p>
          <a:p>
            <a:r>
              <a:rPr lang="en-US" altLang="en-US"/>
              <a:t>    Classifier - Accuracy: 81.14%</a:t>
            </a:r>
            <a:endParaRPr lang="en-US" altLang="en-US"/>
          </a:p>
          <a:p>
            <a:r>
              <a:rPr lang="en-US" altLang="en-US"/>
              <a:t>              precision    recall  f1-score   support</a:t>
            </a:r>
            <a:endParaRPr lang="en-US" altLang="en-US"/>
          </a:p>
          <a:p>
            <a:endParaRPr lang="en-US" altLang="en-US"/>
          </a:p>
          <a:p>
            <a:r>
              <a:rPr lang="en-US" altLang="en-US"/>
              <a:t>         Low       0.85      0.87      0.86       233</a:t>
            </a:r>
            <a:endParaRPr lang="en-US" altLang="en-US"/>
          </a:p>
          <a:p>
            <a:r>
              <a:rPr lang="en-US" altLang="en-US"/>
              <a:t>      Medium       0.73      0.74      0.74       262</a:t>
            </a:r>
            <a:endParaRPr lang="en-US" altLang="en-US"/>
          </a:p>
          <a:p>
            <a:r>
              <a:rPr lang="en-US" altLang="en-US"/>
              <a:t>        High       0.86      0.83      0.85       242</a:t>
            </a:r>
            <a:endParaRPr lang="en-US" altLang="en-US"/>
          </a:p>
          <a:p>
            <a:endParaRPr lang="en-US" altLang="en-US"/>
          </a:p>
          <a:p>
            <a:r>
              <a:rPr lang="en-US" altLang="en-US"/>
              <a:t>    accuracy                           0.81       737</a:t>
            </a:r>
            <a:endParaRPr lang="en-US" altLang="en-US"/>
          </a:p>
          <a:p>
            <a:r>
              <a:rPr lang="en-US" altLang="en-US"/>
              <a:t>   macro avg       0.81      0.81      0.81       737</a:t>
            </a:r>
            <a:endParaRPr lang="en-US" altLang="en-US"/>
          </a:p>
          <a:p>
            <a:r>
              <a:rPr lang="en-US" altLang="en-US"/>
              <a:t>weighted avg       0.81      0.81      0.81       737</a:t>
            </a:r>
            <a:endParaRPr lang="en-US" altLang="en-US"/>
          </a:p>
          <a:p>
            <a:endParaRPr lang="en-US" altLang="en-US"/>
          </a:p>
          <a:p>
            <a:endParaRPr lang="en-US"/>
          </a:p>
        </p:txBody>
      </p:sp>
      <p:sp>
        <p:nvSpPr>
          <p:cNvPr id="6" name="Text Box 5"/>
          <p:cNvSpPr txBox="1"/>
          <p:nvPr/>
        </p:nvSpPr>
        <p:spPr>
          <a:xfrm>
            <a:off x="6555740" y="1873885"/>
            <a:ext cx="5429885" cy="4761230"/>
          </a:xfrm>
          <a:prstGeom prst="rect">
            <a:avLst/>
          </a:prstGeom>
          <a:noFill/>
        </p:spPr>
        <p:txBody>
          <a:bodyPr wrap="square" rtlCol="0">
            <a:noAutofit/>
          </a:bodyPr>
          <a:p>
            <a:r>
              <a:rPr lang="en-US" altLang="en-US"/>
              <a:t> [Tomato]</a:t>
            </a:r>
            <a:endParaRPr lang="en-US" altLang="en-US"/>
          </a:p>
          <a:p>
            <a:r>
              <a:rPr lang="en-US" altLang="en-US"/>
              <a:t>    Train: 2945 | Test:  737</a:t>
            </a:r>
            <a:endParaRPr lang="en-US" altLang="en-US"/>
          </a:p>
          <a:p>
            <a:r>
              <a:rPr lang="en-US" altLang="en-US"/>
              <a:t>    Regressor  - MAE: Rs5.16/kg  |  RMSE: Rs7.07/kg  |  R2: 0.8829</a:t>
            </a:r>
            <a:endParaRPr lang="en-US" altLang="en-US"/>
          </a:p>
          <a:p>
            <a:r>
              <a:rPr lang="en-US" altLang="en-US"/>
              <a:t>    Classifier - Accuracy: 83.18%</a:t>
            </a:r>
            <a:endParaRPr lang="en-US" altLang="en-US"/>
          </a:p>
          <a:p>
            <a:r>
              <a:rPr lang="en-US" altLang="en-US"/>
              <a:t>              precision    recall  f1-score   support</a:t>
            </a:r>
            <a:endParaRPr lang="en-US" altLang="en-US"/>
          </a:p>
          <a:p>
            <a:endParaRPr lang="en-US" altLang="en-US"/>
          </a:p>
          <a:p>
            <a:r>
              <a:rPr lang="en-US" altLang="en-US"/>
              <a:t>         Low       0.85      0.87      0.86       256</a:t>
            </a:r>
            <a:endParaRPr lang="en-US" altLang="en-US"/>
          </a:p>
          <a:p>
            <a:r>
              <a:rPr lang="en-US" altLang="en-US"/>
              <a:t>      Medium       0.73      0.74      0.74       235</a:t>
            </a:r>
            <a:endParaRPr lang="en-US" altLang="en-US"/>
          </a:p>
          <a:p>
            <a:r>
              <a:rPr lang="en-US" altLang="en-US"/>
              <a:t>        High       0.91      0.88      0.89       246</a:t>
            </a:r>
            <a:endParaRPr lang="en-US" altLang="en-US"/>
          </a:p>
          <a:p>
            <a:endParaRPr lang="en-US" altLang="en-US"/>
          </a:p>
          <a:p>
            <a:r>
              <a:rPr lang="en-US" altLang="en-US"/>
              <a:t>    accuracy                           0.83       737</a:t>
            </a:r>
            <a:endParaRPr lang="en-US" altLang="en-US"/>
          </a:p>
          <a:p>
            <a:r>
              <a:rPr lang="en-US" altLang="en-US"/>
              <a:t>   macro avg       0.83      0.83      0.83       737</a:t>
            </a:r>
            <a:endParaRPr lang="en-US" altLang="en-US"/>
          </a:p>
          <a:p>
            <a:r>
              <a:rPr lang="en-US" altLang="en-US"/>
              <a:t>weighted avg       0.83      0.83      0.83       737</a:t>
            </a:r>
            <a:endParaRPr lang="en-US" altLang="en-US"/>
          </a:p>
          <a:p>
            <a:endParaRPr lang="en-US" alt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00405" y="555625"/>
            <a:ext cx="5262880" cy="5970270"/>
          </a:xfrm>
          <a:prstGeom prst="rect">
            <a:avLst/>
          </a:prstGeom>
          <a:noFill/>
        </p:spPr>
        <p:txBody>
          <a:bodyPr wrap="square" rtlCol="0">
            <a:noAutofit/>
          </a:bodyPr>
          <a:p>
            <a:r>
              <a:rPr lang="en-US" altLang="en-US"/>
              <a:t>[Chilli]</a:t>
            </a:r>
            <a:endParaRPr lang="en-US" altLang="en-US"/>
          </a:p>
          <a:p>
            <a:endParaRPr lang="en-US" altLang="en-US"/>
          </a:p>
          <a:p>
            <a:r>
              <a:rPr lang="en-US" altLang="en-US"/>
              <a:t>    Train: 2945 | Test:  737</a:t>
            </a:r>
            <a:endParaRPr lang="en-US" altLang="en-US"/>
          </a:p>
          <a:p>
            <a:r>
              <a:rPr lang="en-US" altLang="en-US"/>
              <a:t>    Regressor  - MAE: Rs9.23/kg  |  RMSE: Rs11.58/kg  |  R2: 0.8565</a:t>
            </a:r>
            <a:endParaRPr lang="en-US" altLang="en-US"/>
          </a:p>
          <a:p>
            <a:r>
              <a:rPr lang="en-US" altLang="en-US"/>
              <a:t>    Classifier - Accuracy: 79.78%</a:t>
            </a:r>
            <a:endParaRPr lang="en-US" altLang="en-US"/>
          </a:p>
          <a:p>
            <a:r>
              <a:rPr lang="en-US" altLang="en-US"/>
              <a:t>              precision    recall  f1-score   support</a:t>
            </a:r>
            <a:endParaRPr lang="en-US" altLang="en-US"/>
          </a:p>
          <a:p>
            <a:endParaRPr lang="en-US" altLang="en-US"/>
          </a:p>
          <a:p>
            <a:endParaRPr lang="en-US" altLang="en-US"/>
          </a:p>
          <a:p>
            <a:r>
              <a:rPr lang="en-US" altLang="en-US"/>
              <a:t>         Low       0.86      0.86      0.86       243</a:t>
            </a:r>
            <a:endParaRPr lang="en-US" altLang="en-US"/>
          </a:p>
          <a:p>
            <a:r>
              <a:rPr lang="en-US" altLang="en-US"/>
              <a:t>      Medium       0.68      0.69      0.69       235</a:t>
            </a:r>
            <a:endParaRPr lang="en-US" altLang="en-US"/>
          </a:p>
          <a:p>
            <a:r>
              <a:rPr lang="en-US" altLang="en-US"/>
              <a:t>        High       0.85      0.84      0.84       259</a:t>
            </a:r>
            <a:endParaRPr lang="en-US" altLang="en-US"/>
          </a:p>
          <a:p>
            <a:endParaRPr lang="en-US" altLang="en-US"/>
          </a:p>
          <a:p>
            <a:endParaRPr lang="en-US" altLang="en-US"/>
          </a:p>
          <a:p>
            <a:r>
              <a:rPr lang="en-US" altLang="en-US"/>
              <a:t>    accuracy                           0.80       737</a:t>
            </a:r>
            <a:endParaRPr lang="en-US" altLang="en-US"/>
          </a:p>
          <a:p>
            <a:r>
              <a:rPr lang="en-US" altLang="en-US"/>
              <a:t>   macro avg       0.80      0.80      0.80       737</a:t>
            </a:r>
            <a:endParaRPr lang="en-US" altLang="en-US"/>
          </a:p>
          <a:p>
            <a:r>
              <a:rPr lang="en-US" altLang="en-US"/>
              <a:t>weighted avg       0.80      0.80      0.80       737</a:t>
            </a:r>
            <a:endParaRPr lang="en-US" altLang="en-US"/>
          </a:p>
          <a:p>
            <a:endParaRPr lang="en-US"/>
          </a:p>
        </p:txBody>
      </p:sp>
      <p:sp>
        <p:nvSpPr>
          <p:cNvPr id="3" name="Text Box 2"/>
          <p:cNvSpPr txBox="1"/>
          <p:nvPr/>
        </p:nvSpPr>
        <p:spPr>
          <a:xfrm>
            <a:off x="6615430" y="757555"/>
            <a:ext cx="4962525" cy="5231765"/>
          </a:xfrm>
          <a:prstGeom prst="rect">
            <a:avLst/>
          </a:prstGeom>
          <a:noFill/>
        </p:spPr>
        <p:txBody>
          <a:bodyPr wrap="square" rtlCol="0">
            <a:noAutofit/>
          </a:bodyPr>
          <a:p>
            <a:r>
              <a:rPr lang="en-US" altLang="en-US"/>
              <a:t> FINAL MODEL EVALUATION SUMMARY</a:t>
            </a:r>
            <a:endParaRPr lang="en-US" altLang="en-US"/>
          </a:p>
          <a:p>
            <a:r>
              <a:rPr lang="en-US" altLang="en-US"/>
              <a:t>=================================================================</a:t>
            </a:r>
            <a:endParaRPr lang="en-US" altLang="en-US"/>
          </a:p>
          <a:p>
            <a:endParaRPr lang="en-US" altLang="en-US"/>
          </a:p>
          <a:p>
            <a:r>
              <a:rPr lang="en-US" altLang="en-US"/>
              <a:t>Vegetable    Train    Test   MAE (Rs)  RMSE (Rs)       R2   Cls Acc</a:t>
            </a:r>
            <a:endParaRPr lang="en-US" altLang="en-US"/>
          </a:p>
          <a:p>
            <a:r>
              <a:rPr lang="en-US" altLang="en-US"/>
              <a:t>-----------------------------------------------------------------</a:t>
            </a:r>
            <a:endParaRPr lang="en-US" altLang="en-US"/>
          </a:p>
          <a:p>
            <a:r>
              <a:rPr lang="en-US" altLang="en-US"/>
              <a:t>Onion         2945     737       3.86       4.86   0.9041    81.14%</a:t>
            </a:r>
            <a:endParaRPr lang="en-US" altLang="en-US"/>
          </a:p>
          <a:p>
            <a:r>
              <a:rPr lang="en-US" altLang="en-US"/>
              <a:t>Tomato        2945     737       5.16       7.07   0.8829    83.18%</a:t>
            </a:r>
            <a:endParaRPr lang="en-US" altLang="en-US"/>
          </a:p>
          <a:p>
            <a:r>
              <a:rPr lang="en-US" altLang="en-US"/>
              <a:t>Chilli        2945     737       9.23      11.58   0.8565    79.78%</a:t>
            </a:r>
            <a:endParaRPr lang="en-US" alt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illi_regression_analysis"/>
          <p:cNvPicPr>
            <a:picLocks noChangeAspect="1"/>
          </p:cNvPicPr>
          <p:nvPr/>
        </p:nvPicPr>
        <p:blipFill>
          <a:blip r:embed="rId1"/>
          <a:stretch>
            <a:fillRect/>
          </a:stretch>
        </p:blipFill>
        <p:spPr>
          <a:xfrm>
            <a:off x="1212850" y="129540"/>
            <a:ext cx="9766300" cy="67284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tomato_regression_analysis"/>
          <p:cNvPicPr>
            <a:picLocks noChangeAspect="1"/>
          </p:cNvPicPr>
          <p:nvPr/>
        </p:nvPicPr>
        <p:blipFill>
          <a:blip r:embed="rId1"/>
          <a:stretch>
            <a:fillRect/>
          </a:stretch>
        </p:blipFill>
        <p:spPr>
          <a:xfrm>
            <a:off x="1212850" y="129540"/>
            <a:ext cx="9766300" cy="67284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onion_regression_analysis"/>
          <p:cNvPicPr>
            <a:picLocks noChangeAspect="1"/>
          </p:cNvPicPr>
          <p:nvPr/>
        </p:nvPicPr>
        <p:blipFill>
          <a:blip r:embed="rId1"/>
          <a:stretch>
            <a:fillRect/>
          </a:stretch>
        </p:blipFill>
        <p:spPr>
          <a:xfrm>
            <a:off x="1212850" y="53975"/>
            <a:ext cx="9766300" cy="68040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orrelation_analysis"/>
          <p:cNvPicPr>
            <a:picLocks noChangeAspect="1"/>
          </p:cNvPicPr>
          <p:nvPr/>
        </p:nvPicPr>
        <p:blipFill>
          <a:blip r:embed="rId1"/>
          <a:stretch>
            <a:fillRect/>
          </a:stretch>
        </p:blipFill>
        <p:spPr>
          <a:xfrm>
            <a:off x="0" y="529590"/>
            <a:ext cx="12059920" cy="52514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lassifier_confusion_matrices"/>
          <p:cNvPicPr>
            <a:picLocks noChangeAspect="1"/>
          </p:cNvPicPr>
          <p:nvPr/>
        </p:nvPicPr>
        <p:blipFill>
          <a:blip r:embed="rId1"/>
          <a:stretch>
            <a:fillRect/>
          </a:stretch>
        </p:blipFill>
        <p:spPr>
          <a:xfrm>
            <a:off x="0" y="1392555"/>
            <a:ext cx="12192000" cy="40728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9105" y="1316990"/>
            <a:ext cx="11370945" cy="6253480"/>
          </a:xfrm>
          <a:prstGeom prst="rect">
            <a:avLst/>
          </a:prstGeom>
          <a:noFill/>
        </p:spPr>
        <p:txBody>
          <a:bodyPr wrap="square" rtlCol="0">
            <a:noAutofit/>
          </a:bodyPr>
          <a:p>
            <a:r>
              <a:rPr lang="en-US" altLang="en-US"/>
              <a:t>1-YEAR PRICE FORECAST  (May 2026 - Apr 2027)</a:t>
            </a:r>
            <a:endParaRPr lang="en-US" altLang="en-US"/>
          </a:p>
          <a:p>
            <a:r>
              <a:rPr lang="en-US" altLang="en-US"/>
              <a:t>=================================================================</a:t>
            </a:r>
            <a:endParaRPr lang="en-US" altLang="en-US"/>
          </a:p>
          <a:p>
            <a:endParaRPr lang="en-US" altLang="en-US"/>
          </a:p>
          <a:p>
            <a:r>
              <a:rPr lang="en-US" altLang="en-US"/>
              <a:t>Month          Onion (Rs)  Tomato (Rs)  Chilli (Rs)    Temp(C)   Rain(mm)</a:t>
            </a:r>
            <a:endParaRPr lang="en-US" altLang="en-US"/>
          </a:p>
          <a:p>
            <a:r>
              <a:rPr lang="en-US" altLang="en-US"/>
              <a:t>----------------------------------------------------------------------</a:t>
            </a:r>
            <a:endParaRPr lang="en-US" altLang="en-US"/>
          </a:p>
          <a:p>
            <a:r>
              <a:rPr lang="en-US" altLang="en-US"/>
              <a:t>May 2026            36.76         6.94       120.12       32.2        7.9</a:t>
            </a:r>
            <a:endParaRPr lang="en-US" altLang="en-US"/>
          </a:p>
          <a:p>
            <a:r>
              <a:rPr lang="en-US" altLang="en-US"/>
              <a:t>Jun 2026            36.43         6.56       118.33       34.8        6.9</a:t>
            </a:r>
            <a:endParaRPr lang="en-US" altLang="en-US"/>
          </a:p>
          <a:p>
            <a:r>
              <a:rPr lang="en-US" altLang="en-US"/>
              <a:t>Jul 2026            34.46         7.25       117.31       36.0       48.0</a:t>
            </a:r>
            <a:endParaRPr lang="en-US" altLang="en-US"/>
          </a:p>
          <a:p>
            <a:r>
              <a:rPr lang="en-US" altLang="en-US"/>
              <a:t>Aug 2026            36.55        11.09       113.44       35.1       87.8</a:t>
            </a:r>
            <a:endParaRPr lang="en-US" altLang="en-US"/>
          </a:p>
          <a:p>
            <a:r>
              <a:rPr lang="en-US" altLang="en-US"/>
              <a:t>Sep 2026            38.67        16.14       113.86       32.2      117.1</a:t>
            </a:r>
            <a:endParaRPr lang="en-US" altLang="en-US"/>
          </a:p>
          <a:p>
            <a:r>
              <a:rPr lang="en-US" altLang="en-US"/>
              <a:t>Oct 2026            41.38        17.45       113.99       28.0      127.6</a:t>
            </a:r>
            <a:endParaRPr lang="en-US" altLang="en-US"/>
          </a:p>
          <a:p>
            <a:r>
              <a:rPr lang="en-US" altLang="en-US"/>
              <a:t>Nov 2026            40.10        23.97       113.12       23.9      116.3</a:t>
            </a:r>
            <a:endParaRPr lang="en-US" altLang="en-US"/>
          </a:p>
          <a:p>
            <a:r>
              <a:rPr lang="en-US" altLang="en-US"/>
              <a:t>Dec 2026            40.62        24.68       115.17       21.1       87.4</a:t>
            </a:r>
            <a:endParaRPr lang="en-US" altLang="en-US"/>
          </a:p>
          <a:p>
            <a:r>
              <a:rPr lang="en-US" altLang="en-US"/>
              <a:t>Jan 2027            39.01        17.36       117.38       20.3       48.4</a:t>
            </a:r>
            <a:endParaRPr lang="en-US" altLang="en-US"/>
          </a:p>
          <a:p>
            <a:r>
              <a:rPr lang="en-US" altLang="en-US"/>
              <a:t>Feb 2027            38.28        17.52       116.65       21.1        7.7</a:t>
            </a:r>
            <a:endParaRPr lang="en-US" altLang="en-US"/>
          </a:p>
          <a:p>
            <a:r>
              <a:rPr lang="en-US" altLang="en-US"/>
              <a:t>Mar 2027            37.81        16.43       117.82       24.0        8.1</a:t>
            </a:r>
            <a:endParaRPr lang="en-US" altLang="en-US"/>
          </a:p>
          <a:p>
            <a:r>
              <a:rPr lang="en-US" altLang="en-US"/>
              <a:t>Apr 2027            38.44        13.57       116.33       28.1        8.4</a:t>
            </a:r>
            <a:endParaRPr lang="en-US" altLang="en-US"/>
          </a:p>
          <a:p>
            <a:endParaRPr lang="en-US"/>
          </a:p>
        </p:txBody>
      </p:sp>
      <p:sp>
        <p:nvSpPr>
          <p:cNvPr id="3" name="Text Box 2"/>
          <p:cNvSpPr txBox="1"/>
          <p:nvPr/>
        </p:nvSpPr>
        <p:spPr>
          <a:xfrm>
            <a:off x="417195" y="381000"/>
            <a:ext cx="6285865" cy="662940"/>
          </a:xfrm>
          <a:prstGeom prst="rect">
            <a:avLst/>
          </a:prstGeom>
          <a:noFill/>
        </p:spPr>
        <p:txBody>
          <a:bodyPr wrap="square" rtlCol="0">
            <a:noAutofit/>
          </a:bodyPr>
          <a:p>
            <a:r>
              <a:rPr lang="en-US" sz="4400" b="1"/>
              <a:t>FINAL OUTPUT</a:t>
            </a:r>
            <a:endParaRPr lang="en-US" sz="4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1year_forecast_all_vegetables"/>
          <p:cNvPicPr>
            <a:picLocks noChangeAspect="1"/>
          </p:cNvPicPr>
          <p:nvPr/>
        </p:nvPicPr>
        <p:blipFill>
          <a:blip r:embed="rId1"/>
          <a:stretch>
            <a:fillRect/>
          </a:stretch>
        </p:blipFill>
        <p:spPr>
          <a:xfrm>
            <a:off x="22225" y="58420"/>
            <a:ext cx="12183745" cy="6799580"/>
          </a:xfrm>
          <a:prstGeom prst="rect">
            <a:avLst/>
          </a:prstGeom>
        </p:spPr>
      </p:pic>
      <p:sp>
        <p:nvSpPr>
          <p:cNvPr id="3" name="Text Box 2"/>
          <p:cNvSpPr txBox="1"/>
          <p:nvPr/>
        </p:nvSpPr>
        <p:spPr>
          <a:xfrm>
            <a:off x="12359005" y="5349240"/>
            <a:ext cx="4064000" cy="368300"/>
          </a:xfrm>
          <a:prstGeom prst="rect">
            <a:avLst/>
          </a:prstGeom>
          <a:noFill/>
        </p:spPr>
        <p:txBody>
          <a:bodyPr wrap="square" rtlCol="0">
            <a:spAutoFit/>
          </a:bodyPr>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6450" y="269240"/>
            <a:ext cx="6096000" cy="4438650"/>
          </a:xfrm>
          <a:prstGeom prst="rect">
            <a:avLst/>
          </a:prstGeom>
          <a:noFill/>
        </p:spPr>
        <p:txBody>
          <a:bodyPr wrap="square">
            <a:noAutofit/>
          </a:bodyPr>
          <a:lstStyle/>
          <a:p>
            <a:pPr>
              <a:buNone/>
            </a:pPr>
            <a:r>
              <a:rPr lang="en-US" sz="3600" b="1"/>
              <a:t>DISCUSSION</a:t>
            </a:r>
            <a:endParaRPr lang="en-US" sz="3600" b="1"/>
          </a:p>
          <a:p>
            <a:pPr>
              <a:buNone/>
            </a:pPr>
            <a:endParaRPr lang="en-US" sz="3600" b="1"/>
          </a:p>
          <a:p>
            <a:pPr>
              <a:buNone/>
            </a:pPr>
            <a:r>
              <a:rPr lang="en-US" sz="2400" b="1"/>
              <a:t> 1.</a:t>
            </a:r>
            <a:r>
              <a:rPr lang="en-US" sz="2400" b="1"/>
              <a:t>Challenges Faced (Data Quality, Noise, Imbalance, Feature Selection)</a:t>
            </a:r>
            <a:endParaRPr lang="en-US" sz="2400" b="1"/>
          </a:p>
          <a:p>
            <a:pPr>
              <a:buNone/>
            </a:pPr>
            <a:endParaRPr lang="en-US" sz="2400"/>
          </a:p>
          <a:p>
            <a:r>
              <a:rPr lang="en-US" sz="2400"/>
              <a:t>1.Presence of missing values and noisy data affected model performance.</a:t>
            </a:r>
            <a:endParaRPr lang="en-US" sz="2400"/>
          </a:p>
          <a:p>
            <a:r>
              <a:rPr lang="en-US" sz="2400"/>
              <a:t> </a:t>
            </a:r>
            <a:endParaRPr lang="en-US" sz="2400"/>
          </a:p>
          <a:p>
            <a:r>
              <a:rPr lang="en-US" sz="2400"/>
              <a:t>2.Class imbalance (more “safe” than “unsafe” samples) required careful handling for accurate prediction</a:t>
            </a:r>
            <a:r>
              <a:rPr lang="en-US" sz="2400"/>
              <a:t>. </a:t>
            </a:r>
            <a:endParaRPr lang="en-US" sz="2400"/>
          </a:p>
        </p:txBody>
      </p:sp>
      <p:sp>
        <p:nvSpPr>
          <p:cNvPr id="5" name="TextBox 4"/>
          <p:cNvSpPr txBox="1"/>
          <p:nvPr/>
        </p:nvSpPr>
        <p:spPr>
          <a:xfrm>
            <a:off x="6676102" y="1107996"/>
            <a:ext cx="5211097" cy="368300"/>
          </a:xfrm>
          <a:prstGeom prst="rect">
            <a:avLst/>
          </a:prstGeom>
          <a:noFill/>
        </p:spPr>
        <p:txBody>
          <a:bodyPr wrap="square" rtlCol="0">
            <a:spAutoFit/>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79425" y="493395"/>
            <a:ext cx="6515100" cy="5840095"/>
          </a:xfrm>
          <a:prstGeom prst="rect">
            <a:avLst/>
          </a:prstGeom>
          <a:noFill/>
        </p:spPr>
        <p:txBody>
          <a:bodyPr wrap="square" rtlCol="0">
            <a:noAutofit/>
          </a:bodyPr>
          <a:p>
            <a:r>
              <a:rPr lang="en-US" sz="2400" b="1">
                <a:sym typeface="+mn-ea"/>
              </a:rPr>
              <a:t>Limitations of the Approach or Dataset</a:t>
            </a:r>
            <a:endParaRPr lang="en-US" sz="2400"/>
          </a:p>
          <a:p>
            <a:endParaRPr lang="en-US" sz="2400"/>
          </a:p>
          <a:p>
            <a:r>
              <a:rPr lang="en-US" sz="2400">
                <a:sym typeface="+mn-ea"/>
              </a:rPr>
              <a:t>1.Limited dataset size and region-specific data reduce generalization to other areas. </a:t>
            </a:r>
            <a:endParaRPr lang="en-US" sz="2400"/>
          </a:p>
          <a:p>
            <a:endParaRPr lang="en-US" sz="2400"/>
          </a:p>
          <a:p>
            <a:r>
              <a:rPr lang="en-US" sz="2400">
                <a:sym typeface="+mn-ea"/>
              </a:rPr>
              <a:t>2.Lack of temporal data (seasonal variations) limits long-term prediction capability. </a:t>
            </a:r>
            <a:endParaRPr lang="en-US" sz="2400"/>
          </a:p>
          <a:p>
            <a:endParaRPr lang="en-US" sz="2400"/>
          </a:p>
          <a:p>
            <a:r>
              <a:rPr lang="en-US" sz="2400" b="1">
                <a:sym typeface="+mn-ea"/>
              </a:rPr>
              <a:t> Impact on Agricultural Decision-Making</a:t>
            </a:r>
            <a:endParaRPr lang="en-US" sz="2400" b="1"/>
          </a:p>
          <a:p>
            <a:endParaRPr lang="en-US" sz="2400"/>
          </a:p>
          <a:p>
            <a:r>
              <a:rPr lang="en-US" sz="2400">
                <a:sym typeface="+mn-ea"/>
              </a:rPr>
              <a:t>1.Helps farmers identify possible prices of agricultural commodities so they can choose the proper crop to grow.</a:t>
            </a:r>
            <a:endParaRPr lang="en-US" sz="2400"/>
          </a:p>
          <a:p>
            <a:r>
              <a:rPr lang="en-US" sz="2400">
                <a:sym typeface="+mn-ea"/>
              </a:rPr>
              <a:t> </a:t>
            </a:r>
            <a:endParaRPr lang="en-US" sz="2400"/>
          </a:p>
          <a:p>
            <a:pPr indent="0">
              <a:buFont typeface="+mj-lt"/>
              <a:buNone/>
            </a:pPr>
            <a:r>
              <a:rPr lang="en-US" sz="2400">
                <a:sym typeface="+mn-ea"/>
              </a:rPr>
              <a:t>2.helps to stabilize the prices in country /state</a:t>
            </a:r>
            <a:endParaRPr 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5660" y="111125"/>
            <a:ext cx="6381115" cy="854710"/>
          </a:xfrm>
          <a:prstGeom prst="rect">
            <a:avLst/>
          </a:prstGeom>
          <a:noFill/>
        </p:spPr>
        <p:txBody>
          <a:bodyPr wrap="square">
            <a:noAutofit/>
          </a:bodyPr>
          <a:lstStyle/>
          <a:p>
            <a:r>
              <a:rPr lang="en-IN" sz="3600"/>
              <a:t>FUTUREWORK</a:t>
            </a:r>
            <a:endParaRPr lang="en-IN" sz="3600"/>
          </a:p>
          <a:p>
            <a:endParaRPr lang="en-IN" sz="3600"/>
          </a:p>
          <a:p>
            <a:endParaRPr lang="en-IN" sz="3600"/>
          </a:p>
        </p:txBody>
      </p:sp>
      <p:sp>
        <p:nvSpPr>
          <p:cNvPr id="6" name="TextBox 5"/>
          <p:cNvSpPr txBox="1"/>
          <p:nvPr/>
        </p:nvSpPr>
        <p:spPr>
          <a:xfrm>
            <a:off x="717550" y="892175"/>
            <a:ext cx="11474450" cy="2690495"/>
          </a:xfrm>
          <a:prstGeom prst="rect">
            <a:avLst/>
          </a:prstGeom>
          <a:noFill/>
        </p:spPr>
        <p:txBody>
          <a:bodyPr wrap="square">
            <a:noAutofit/>
          </a:bodyPr>
          <a:lstStyle/>
          <a:p>
            <a:pPr>
              <a:buNone/>
            </a:pPr>
            <a:endParaRPr lang="en-US" sz="2000" b="1"/>
          </a:p>
          <a:p>
            <a:pPr>
              <a:buNone/>
            </a:pPr>
            <a:r>
              <a:rPr lang="en-US" sz="2000" b="1"/>
              <a:t>       </a:t>
            </a:r>
            <a:endParaRPr lang="en-US" sz="2000"/>
          </a:p>
        </p:txBody>
      </p:sp>
      <p:sp>
        <p:nvSpPr>
          <p:cNvPr id="10" name="TextBox 9"/>
          <p:cNvSpPr txBox="1"/>
          <p:nvPr/>
        </p:nvSpPr>
        <p:spPr>
          <a:xfrm>
            <a:off x="502285" y="892810"/>
            <a:ext cx="11266805" cy="5547360"/>
          </a:xfrm>
          <a:prstGeom prst="rect">
            <a:avLst/>
          </a:prstGeom>
          <a:noFill/>
        </p:spPr>
        <p:txBody>
          <a:bodyPr wrap="square">
            <a:noAutofit/>
          </a:bodyPr>
          <a:lstStyle/>
          <a:p>
            <a:pPr marL="342900" indent="-342900">
              <a:buFont typeface="Wingdings" panose="05000000000000000000" charset="0"/>
              <a:buChar char="Ø"/>
            </a:pPr>
            <a:r>
              <a:rPr lang="en-US" sz="2800"/>
              <a:t>uploading broad data set to train the model(grid based)</a:t>
            </a:r>
            <a:endParaRPr lang="en-US" sz="2800"/>
          </a:p>
          <a:p>
            <a:pPr marL="342900" indent="-342900">
              <a:buFont typeface="Wingdings" panose="05000000000000000000" charset="0"/>
              <a:buChar char="Ø"/>
            </a:pPr>
            <a:r>
              <a:rPr lang="en-US" sz="2800"/>
              <a:t>Dividing the predictions based on grids,state,country.</a:t>
            </a:r>
            <a:endParaRPr lang="en-US" sz="2800"/>
          </a:p>
          <a:p>
            <a:pPr marL="342900" indent="-342900">
              <a:buFont typeface="Wingdings" panose="05000000000000000000" charset="0"/>
              <a:buChar char="Ø"/>
            </a:pPr>
            <a:r>
              <a:rPr lang="en-US" sz="2800"/>
              <a:t>Making the model self learning by giving access to real time data</a:t>
            </a:r>
            <a:endParaRPr lang="en-US" sz="2800"/>
          </a:p>
          <a:p>
            <a:pPr marL="342900" indent="-342900">
              <a:buFont typeface="Wingdings" panose="05000000000000000000" charset="0"/>
              <a:buChar char="Ø"/>
            </a:pPr>
            <a:r>
              <a:rPr lang="en-US" sz="2800"/>
              <a:t>Feeding model with production details,possible diseases for accuracy of prediction</a:t>
            </a:r>
            <a:endParaRPr lang="en-US" sz="2800"/>
          </a:p>
          <a:p>
            <a:pPr marL="342900" indent="-342900">
              <a:buFont typeface="Wingdings" panose="05000000000000000000" charset="0"/>
              <a:buChar char="Ø"/>
            </a:pPr>
            <a:r>
              <a:rPr lang="en-US" sz="2800"/>
              <a:t>Predictions which is also integrated with real time war,Crisis,Demand,Supply.</a:t>
            </a:r>
            <a:endParaRPr lang="en-US" sz="2800"/>
          </a:p>
          <a:p>
            <a:pPr marL="342900" indent="-342900">
              <a:buFont typeface="Wingdings" panose="05000000000000000000" charset="0"/>
              <a:buChar char="Ø"/>
            </a:pPr>
            <a:r>
              <a:rPr lang="en-US" sz="2800"/>
              <a:t>By using the prediction letting know the possible exports abd imports</a:t>
            </a:r>
            <a:endParaRPr lang="en-US" sz="2800"/>
          </a:p>
          <a:p>
            <a:pPr marL="342900" indent="-342900">
              <a:buFont typeface="Wingdings" panose="05000000000000000000" charset="0"/>
              <a:buChar char="Ø"/>
            </a:pPr>
            <a:r>
              <a:rPr lang="en-US" sz="2800"/>
              <a:t>Stabilization of in country variable prices by using Grid based predictions</a:t>
            </a:r>
            <a:endParaRPr lang="en-US" sz="2800"/>
          </a:p>
          <a:p>
            <a:pPr marL="342900" indent="-342900">
              <a:buFont typeface="Wingdings" panose="05000000000000000000" charset="0"/>
              <a:buChar char="Ø"/>
            </a:pPr>
            <a:endParaRPr lang="en-US"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pr 1"/>
          <p:cNvPicPr>
            <a:picLocks noChangeAspect="1"/>
          </p:cNvPicPr>
          <p:nvPr/>
        </p:nvPicPr>
        <p:blipFill>
          <a:blip r:embed="rId1"/>
          <a:stretch>
            <a:fillRect/>
          </a:stretch>
        </p:blipFill>
        <p:spPr>
          <a:xfrm>
            <a:off x="228600" y="152400"/>
            <a:ext cx="4010660" cy="6079490"/>
          </a:xfrm>
          <a:prstGeom prst="rect">
            <a:avLst/>
          </a:prstGeom>
        </p:spPr>
      </p:pic>
      <p:pic>
        <p:nvPicPr>
          <p:cNvPr id="5" name="Picture 4" descr="pr 2"/>
          <p:cNvPicPr>
            <a:picLocks noChangeAspect="1"/>
          </p:cNvPicPr>
          <p:nvPr/>
        </p:nvPicPr>
        <p:blipFill>
          <a:blip r:embed="rId2"/>
          <a:stretch>
            <a:fillRect/>
          </a:stretch>
        </p:blipFill>
        <p:spPr>
          <a:xfrm>
            <a:off x="4419600" y="228600"/>
            <a:ext cx="3766820" cy="6080125"/>
          </a:xfrm>
          <a:prstGeom prst="rect">
            <a:avLst/>
          </a:prstGeom>
        </p:spPr>
      </p:pic>
      <p:pic>
        <p:nvPicPr>
          <p:cNvPr id="7" name="Picture 6" descr="pr 3"/>
          <p:cNvPicPr>
            <a:picLocks noChangeAspect="1"/>
          </p:cNvPicPr>
          <p:nvPr/>
        </p:nvPicPr>
        <p:blipFill>
          <a:blip r:embed="rId3"/>
          <a:stretch>
            <a:fillRect/>
          </a:stretch>
        </p:blipFill>
        <p:spPr>
          <a:xfrm>
            <a:off x="8305800" y="224155"/>
            <a:ext cx="3669030" cy="6060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73909" y="3822291"/>
            <a:ext cx="6096000" cy="369332"/>
          </a:xfrm>
          <a:prstGeom prst="rect">
            <a:avLst/>
          </a:prstGeom>
          <a:noFill/>
        </p:spPr>
        <p:txBody>
          <a:bodyPr wrap="square">
            <a:spAutoFit/>
          </a:bodyPr>
          <a:lstStyle/>
          <a:p>
            <a:r>
              <a:rPr lang="en-IN"/>
              <a:t> </a:t>
            </a:r>
            <a:endParaRPr lang="en-IN"/>
          </a:p>
        </p:txBody>
      </p:sp>
      <p:sp>
        <p:nvSpPr>
          <p:cNvPr id="8" name="TextBox 7"/>
          <p:cNvSpPr txBox="1"/>
          <p:nvPr/>
        </p:nvSpPr>
        <p:spPr>
          <a:xfrm>
            <a:off x="3202305" y="1511300"/>
            <a:ext cx="7346950" cy="2680335"/>
          </a:xfrm>
          <a:prstGeom prst="rect">
            <a:avLst/>
          </a:prstGeom>
          <a:noFill/>
        </p:spPr>
        <p:txBody>
          <a:bodyPr wrap="square">
            <a:noAutofit/>
          </a:bodyPr>
          <a:lstStyle/>
          <a:p>
            <a:r>
              <a:rPr lang="en-IN" sz="5400"/>
              <a:t>══════════                                                                  </a:t>
            </a:r>
            <a:r>
              <a:rPr lang="en-IN" sz="5400" b="1"/>
              <a:t>THANK YOU ! </a:t>
            </a:r>
            <a:r>
              <a:rPr lang="en-IN" sz="5400"/>
              <a:t> ══════════</a:t>
            </a:r>
            <a:endParaRPr lang="en-IN" sz="5400"/>
          </a:p>
          <a:p>
            <a:pPr>
              <a:buNone/>
            </a:pPr>
            <a:endParaRPr lang="en-IN" sz="5400" b="1"/>
          </a:p>
        </p:txBody>
      </p:sp>
      <p:sp>
        <p:nvSpPr>
          <p:cNvPr id="15" name="TextBox 14"/>
          <p:cNvSpPr txBox="1"/>
          <p:nvPr/>
        </p:nvSpPr>
        <p:spPr>
          <a:xfrm>
            <a:off x="3874135" y="2057400"/>
            <a:ext cx="12428220" cy="3969385"/>
          </a:xfrm>
          <a:prstGeom prst="rect">
            <a:avLst/>
          </a:prstGeom>
          <a:noFill/>
        </p:spPr>
        <p:txBody>
          <a:bodyPr wrap="square">
            <a:noAutofit/>
          </a:bodyPr>
          <a:lstStyle/>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endParaRPr lang="en-US" sz="1800">
              <a:latin typeface="Times New Roman" panose="02020603050405020304"/>
              <a:ea typeface="Times New Roman" panose="02020603050405020304"/>
              <a:cs typeface="Times New Roman" panose="02020603050405020304"/>
              <a:sym typeface="Times New Roman" panose="02020603050405020304"/>
            </a:endParaRPr>
          </a:p>
          <a:p>
            <a:endParaRPr lang="en-US">
              <a:latin typeface="Times New Roman" panose="02020603050405020304"/>
              <a:ea typeface="Times New Roman" panose="02020603050405020304"/>
              <a:cs typeface="Times New Roman" panose="02020603050405020304"/>
              <a:sym typeface="Times New Roman" panose="02020603050405020304"/>
            </a:endParaRPr>
          </a:p>
          <a:p>
            <a:r>
              <a:rPr lang="en-US" sz="1800">
                <a:latin typeface="Times New Roman" panose="02020603050405020304"/>
                <a:ea typeface="Times New Roman" panose="02020603050405020304"/>
                <a:cs typeface="Times New Roman" panose="02020603050405020304"/>
                <a:sym typeface="Times New Roman" panose="02020603050405020304"/>
              </a:rPr>
              <a:t> </a:t>
            </a:r>
            <a:endParaRPr lang="en-IN"/>
          </a:p>
        </p:txBody>
      </p:sp>
    </p:spTree>
  </p:cSld>
  <p:clrMapOvr>
    <a:masterClrMapping/>
  </p:clrMapOvr>
</p:sld>
</file>

<file path=ppt/tags/tag1.xml><?xml version="1.0" encoding="utf-8"?>
<p:tagLst xmlns:p="http://schemas.openxmlformats.org/presentationml/2006/main">
  <p:tag name="TABLE_ENDDRAG_ORIGIN_RECT" val="964*539"/>
  <p:tag name="TABLE_ENDDRAG_RECT" val="0*0*964*540"/>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{72853F7C-F265-4D5E-869E-DBBF60258684}TFc3084226-2d0c-440f-9f46-6b48c7a7f670e6ba4a85-fc4a2881d6b3</Template>
  <TotalTime>0</TotalTime>
  <Words>9945</Words>
  <Application>WPS Presentation</Application>
  <PresentationFormat>Widescreen</PresentationFormat>
  <Paragraphs>665</Paragraphs>
  <Slides>26</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SimSun</vt:lpstr>
      <vt:lpstr>Wingdings</vt:lpstr>
      <vt:lpstr>Times New Roman</vt:lpstr>
      <vt:lpstr>Bodoni MT</vt:lpstr>
      <vt:lpstr>Bahnschrift Light</vt:lpstr>
      <vt:lpstr>Arial</vt:lpstr>
      <vt:lpstr>Microsoft YaHei</vt:lpstr>
      <vt:lpstr>Arial Unicode MS</vt:lpstr>
      <vt:lpstr>Calibri</vt:lpstr>
      <vt:lpstr>Wingdings</vt:lpstr>
      <vt:lpstr>Default Design</vt:lpstr>
      <vt:lpstr> University of agricultural sciences,banglore-560065 College of Agriculture, GKVK    EAI-421: AI &amp; ML in Agriculture (0+10)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University of agricultural sciences,banglore-560065    College of Agriculture, GKVK    EAI-421: AI &amp; ML in Agriculture (0+10)</dc:title>
  <dc:creator>Keerthana S A</dc:creator>
  <cp:lastModifiedBy>pavan m</cp:lastModifiedBy>
  <cp:revision>7</cp:revision>
  <dcterms:created xsi:type="dcterms:W3CDTF">2026-04-13T09:58:00Z</dcterms:created>
  <dcterms:modified xsi:type="dcterms:W3CDTF">2026-04-16T03:10:21Z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3C26AB5439A64AF4A97D652AEBAE1B4C_13</vt:lpwstr>
  </property>
  <property fmtid="{D5CDD505-2E9C-101B-9397-08002B2CF9AE}" pid="3" name="KSOProductBuildVer">
    <vt:lpwstr>1033-12.2.0.23201</vt:lpwstr>
  </property>
</Properties>
</file>